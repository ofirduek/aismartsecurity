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1" r:id="rId4"/>
    <p:sldId id="272" r:id="rId5"/>
    <p:sldId id="260" r:id="rId6"/>
    <p:sldId id="259" r:id="rId7"/>
    <p:sldId id="261" r:id="rId8"/>
    <p:sldId id="258" r:id="rId9"/>
    <p:sldId id="262" r:id="rId10"/>
    <p:sldId id="280" r:id="rId11"/>
    <p:sldId id="263" r:id="rId12"/>
    <p:sldId id="281" r:id="rId13"/>
    <p:sldId id="273" r:id="rId14"/>
    <p:sldId id="264" r:id="rId15"/>
    <p:sldId id="284" r:id="rId16"/>
    <p:sldId id="285" r:id="rId17"/>
    <p:sldId id="283" r:id="rId18"/>
    <p:sldId id="282" r:id="rId19"/>
    <p:sldId id="266" r:id="rId20"/>
    <p:sldId id="265" r:id="rId21"/>
    <p:sldId id="267" r:id="rId22"/>
    <p:sldId id="268" r:id="rId23"/>
    <p:sldId id="269" r:id="rId24"/>
    <p:sldId id="27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866F"/>
    <a:srgbClr val="EDF1F9"/>
    <a:srgbClr val="C23B83"/>
    <a:srgbClr val="F2D6E5"/>
    <a:srgbClr val="E2CFF1"/>
    <a:srgbClr val="F1D3E3"/>
    <a:srgbClr val="E34B4B"/>
    <a:srgbClr val="15834F"/>
    <a:srgbClr val="C5F0FF"/>
    <a:srgbClr val="F7C3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82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עמודה1</c:v>
                </c:pt>
              </c:strCache>
            </c:strRef>
          </c:tx>
          <c:spPr>
            <a:solidFill>
              <a:srgbClr val="15834F"/>
            </a:solidFill>
          </c:spPr>
          <c:dPt>
            <c:idx val="0"/>
            <c:bubble3D val="0"/>
            <c:spPr>
              <a:solidFill>
                <a:srgbClr val="E34B4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24F-4C77-A287-89EB931C9CCC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A24F-4C77-A287-89EB931C9CCC}"/>
              </c:ext>
            </c:extLst>
          </c:dPt>
          <c:dPt>
            <c:idx val="2"/>
            <c:bubble3D val="0"/>
            <c:spPr>
              <a:solidFill>
                <a:srgbClr val="15834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556-4E07-B768-847976AAD475}"/>
              </c:ext>
            </c:extLst>
          </c:dPt>
          <c:dPt>
            <c:idx val="3"/>
            <c:bubble3D val="0"/>
            <c:spPr>
              <a:solidFill>
                <a:srgbClr val="15834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556-4E07-B768-847976AAD475}"/>
              </c:ext>
            </c:extLst>
          </c:dPt>
          <c:cat>
            <c:numRef>
              <c:f>גיליון1!$A$2:$A$5</c:f>
              <c:numCache>
                <c:formatCode>General</c:formatCode>
                <c:ptCount val="4"/>
              </c:numCache>
            </c:numRef>
          </c:cat>
          <c:val>
            <c:numRef>
              <c:f>גיליון1!$B$2:$B$5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4F-4C77-A287-89EB931C9C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עמודה1</c:v>
                </c:pt>
              </c:strCache>
            </c:strRef>
          </c:tx>
          <c:spPr>
            <a:solidFill>
              <a:srgbClr val="15834F"/>
            </a:solidFill>
          </c:spPr>
          <c:dPt>
            <c:idx val="0"/>
            <c:bubble3D val="0"/>
            <c:spPr>
              <a:solidFill>
                <a:srgbClr val="E34B4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C83-4C69-A506-1944062C2064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C83-4C69-A506-1944062C2064}"/>
              </c:ext>
            </c:extLst>
          </c:dPt>
          <c:dPt>
            <c:idx val="2"/>
            <c:bubble3D val="0"/>
            <c:spPr>
              <a:solidFill>
                <a:srgbClr val="15834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C83-4C69-A506-1944062C2064}"/>
              </c:ext>
            </c:extLst>
          </c:dPt>
          <c:dPt>
            <c:idx val="3"/>
            <c:bubble3D val="0"/>
            <c:spPr>
              <a:solidFill>
                <a:srgbClr val="15834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C83-4C69-A506-1944062C2064}"/>
              </c:ext>
            </c:extLst>
          </c:dPt>
          <c:cat>
            <c:numRef>
              <c:f>גיליון1!$A$2:$A$5</c:f>
              <c:numCache>
                <c:formatCode>General</c:formatCode>
                <c:ptCount val="4"/>
              </c:numCache>
            </c:numRef>
          </c:cat>
          <c:val>
            <c:numRef>
              <c:f>גיליון1!$B$2:$B$5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C83-4C69-A506-1944062C20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עמודה1</c:v>
                </c:pt>
              </c:strCache>
            </c:strRef>
          </c:tx>
          <c:spPr>
            <a:solidFill>
              <a:srgbClr val="15834F"/>
            </a:solidFill>
          </c:spPr>
          <c:dPt>
            <c:idx val="0"/>
            <c:bubble3D val="0"/>
            <c:spPr>
              <a:solidFill>
                <a:srgbClr val="E34B4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C6-4B2A-B414-67FADA502ECF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C6-4B2A-B414-67FADA502ECF}"/>
              </c:ext>
            </c:extLst>
          </c:dPt>
          <c:dPt>
            <c:idx val="2"/>
            <c:bubble3D val="0"/>
            <c:spPr>
              <a:solidFill>
                <a:srgbClr val="15834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1C6-4B2A-B414-67FADA502ECF}"/>
              </c:ext>
            </c:extLst>
          </c:dPt>
          <c:dPt>
            <c:idx val="3"/>
            <c:bubble3D val="0"/>
            <c:spPr>
              <a:solidFill>
                <a:srgbClr val="15834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1C6-4B2A-B414-67FADA502ECF}"/>
              </c:ext>
            </c:extLst>
          </c:dPt>
          <c:cat>
            <c:numRef>
              <c:f>גיליון1!$A$2:$A$5</c:f>
              <c:numCache>
                <c:formatCode>General</c:formatCode>
                <c:ptCount val="4"/>
              </c:numCache>
            </c:numRef>
          </c:cat>
          <c:val>
            <c:numRef>
              <c:f>גיליון1!$B$2:$B$5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1C6-4B2A-B414-67FADA502E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8D4969-2E0B-48E4-8347-41EB98BFFA52}" type="doc">
      <dgm:prSet loTypeId="urn:microsoft.com/office/officeart/2005/8/layout/chevron1" loCatId="process" qsTypeId="urn:microsoft.com/office/officeart/2005/8/quickstyle/3d2" qsCatId="3D" csTypeId="urn:microsoft.com/office/officeart/2005/8/colors/accent5_1" csCatId="accent5" phldr="1"/>
      <dgm:spPr/>
      <dgm:t>
        <a:bodyPr/>
        <a:lstStyle/>
        <a:p>
          <a:pPr rtl="1"/>
          <a:endParaRPr lang="he-IL"/>
        </a:p>
      </dgm:t>
    </dgm:pt>
    <dgm:pt modelId="{6D154BB7-0567-4BDB-B2C0-277D850D443D}">
      <dgm:prSet phldrT="[טקסט]" phldr="0" custT="1"/>
      <dgm:spPr/>
      <dgm:t>
        <a:bodyPr/>
        <a:lstStyle/>
        <a:p>
          <a:pPr rtl="1"/>
          <a:r>
            <a:rPr lang="en-US" sz="1600"/>
            <a:t>Video input</a:t>
          </a:r>
          <a:endParaRPr lang="he-IL" sz="1600" dirty="0"/>
        </a:p>
      </dgm:t>
    </dgm:pt>
    <dgm:pt modelId="{27098E60-61F2-46EC-8702-42EB323FC6CB}" type="parTrans" cxnId="{4FA575B4-393B-418B-AF15-40DBBC76B2EA}">
      <dgm:prSet/>
      <dgm:spPr/>
      <dgm:t>
        <a:bodyPr/>
        <a:lstStyle/>
        <a:p>
          <a:pPr rtl="1"/>
          <a:endParaRPr lang="he-IL"/>
        </a:p>
      </dgm:t>
    </dgm:pt>
    <dgm:pt modelId="{CA0DF909-E7C3-4003-95EF-928C5C7C0684}" type="sibTrans" cxnId="{4FA575B4-393B-418B-AF15-40DBBC76B2EA}">
      <dgm:prSet/>
      <dgm:spPr/>
      <dgm:t>
        <a:bodyPr/>
        <a:lstStyle/>
        <a:p>
          <a:pPr rtl="1"/>
          <a:endParaRPr lang="he-IL"/>
        </a:p>
      </dgm:t>
    </dgm:pt>
    <dgm:pt modelId="{C9A9C0C1-D3DB-4D3C-A31F-2931FCF7AD80}">
      <dgm:prSet phldrT="[טקסט]"/>
      <dgm:spPr/>
      <dgm:t>
        <a:bodyPr/>
        <a:lstStyle/>
        <a:p>
          <a:pPr rtl="1">
            <a:buNone/>
          </a:pPr>
          <a:r>
            <a:rPr lang="en-US"/>
            <a:t>ResNet50</a:t>
          </a:r>
          <a:r>
            <a:rPr lang="he-IL"/>
            <a:t> </a:t>
          </a:r>
          <a:endParaRPr lang="he-IL" dirty="0"/>
        </a:p>
      </dgm:t>
    </dgm:pt>
    <dgm:pt modelId="{3B9A4F4D-60FD-4FD3-AE7E-BAB866AA5A90}" type="parTrans" cxnId="{F7ED7ED0-3631-4564-AB51-F0B4AE0B8102}">
      <dgm:prSet/>
      <dgm:spPr/>
      <dgm:t>
        <a:bodyPr/>
        <a:lstStyle/>
        <a:p>
          <a:pPr rtl="1"/>
          <a:endParaRPr lang="he-IL"/>
        </a:p>
      </dgm:t>
    </dgm:pt>
    <dgm:pt modelId="{F3FACB1D-EC57-429E-A15E-5D6E4FF8178B}" type="sibTrans" cxnId="{F7ED7ED0-3631-4564-AB51-F0B4AE0B8102}">
      <dgm:prSet/>
      <dgm:spPr/>
      <dgm:t>
        <a:bodyPr/>
        <a:lstStyle/>
        <a:p>
          <a:pPr rtl="1"/>
          <a:endParaRPr lang="he-IL"/>
        </a:p>
      </dgm:t>
    </dgm:pt>
    <dgm:pt modelId="{579C4409-576E-45CF-8E66-EAE6A6A70175}">
      <dgm:prSet phldrT="[טקסט]" phldr="0"/>
      <dgm:spPr/>
      <dgm:t>
        <a:bodyPr/>
        <a:lstStyle/>
        <a:p>
          <a:pPr rtl="1"/>
          <a:r>
            <a:rPr lang="en-US"/>
            <a:t>LSTM</a:t>
          </a:r>
          <a:endParaRPr lang="he-IL" dirty="0"/>
        </a:p>
      </dgm:t>
    </dgm:pt>
    <dgm:pt modelId="{9E12F903-E65A-4EA0-A196-971C4E2EAAA9}" type="parTrans" cxnId="{EC2E802F-32CF-4281-A05B-F791668732E9}">
      <dgm:prSet/>
      <dgm:spPr/>
      <dgm:t>
        <a:bodyPr/>
        <a:lstStyle/>
        <a:p>
          <a:pPr rtl="1"/>
          <a:endParaRPr lang="he-IL"/>
        </a:p>
      </dgm:t>
    </dgm:pt>
    <dgm:pt modelId="{0227F677-9155-4BF1-A63B-2287975A156B}" type="sibTrans" cxnId="{EC2E802F-32CF-4281-A05B-F791668732E9}">
      <dgm:prSet/>
      <dgm:spPr/>
      <dgm:t>
        <a:bodyPr/>
        <a:lstStyle/>
        <a:p>
          <a:pPr rtl="1"/>
          <a:endParaRPr lang="he-IL"/>
        </a:p>
      </dgm:t>
    </dgm:pt>
    <dgm:pt modelId="{BEDDEB8B-8571-43DC-BB2E-FF62BBEDF56D}">
      <dgm:prSet phldrT="[טקסט]" phldr="0"/>
      <dgm:spPr/>
      <dgm:t>
        <a:bodyPr/>
        <a:lstStyle/>
        <a:p>
          <a:pPr rtl="1"/>
          <a:r>
            <a:rPr lang="en-US"/>
            <a:t>Classification</a:t>
          </a:r>
          <a:endParaRPr lang="he-IL" dirty="0"/>
        </a:p>
      </dgm:t>
    </dgm:pt>
    <dgm:pt modelId="{FBC45714-B0F9-4541-942F-25BB4E1FB058}" type="parTrans" cxnId="{190AE564-8C82-491F-ACB4-9E192DFFEDCB}">
      <dgm:prSet/>
      <dgm:spPr/>
      <dgm:t>
        <a:bodyPr/>
        <a:lstStyle/>
        <a:p>
          <a:pPr rtl="1"/>
          <a:endParaRPr lang="he-IL"/>
        </a:p>
      </dgm:t>
    </dgm:pt>
    <dgm:pt modelId="{95BFB9CA-ABC5-4747-80A4-FC0B3A688B37}" type="sibTrans" cxnId="{190AE564-8C82-491F-ACB4-9E192DFFEDCB}">
      <dgm:prSet/>
      <dgm:spPr/>
      <dgm:t>
        <a:bodyPr/>
        <a:lstStyle/>
        <a:p>
          <a:pPr rtl="1"/>
          <a:endParaRPr lang="he-IL"/>
        </a:p>
      </dgm:t>
    </dgm:pt>
    <dgm:pt modelId="{FDE9ECB7-C8A4-4869-BFDE-6AFDF2B7D363}" type="pres">
      <dgm:prSet presAssocID="{288D4969-2E0B-48E4-8347-41EB98BFFA52}" presName="Name0" presStyleCnt="0">
        <dgm:presLayoutVars>
          <dgm:dir/>
          <dgm:animLvl val="lvl"/>
          <dgm:resizeHandles val="exact"/>
        </dgm:presLayoutVars>
      </dgm:prSet>
      <dgm:spPr/>
    </dgm:pt>
    <dgm:pt modelId="{9619B083-C493-47F3-9396-15115A0CF560}" type="pres">
      <dgm:prSet presAssocID="{6D154BB7-0567-4BDB-B2C0-277D850D443D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C513232-44AD-4A04-AAE8-B3496521596B}" type="pres">
      <dgm:prSet presAssocID="{CA0DF909-E7C3-4003-95EF-928C5C7C0684}" presName="parTxOnlySpace" presStyleCnt="0"/>
      <dgm:spPr/>
    </dgm:pt>
    <dgm:pt modelId="{8E853F85-50ED-496C-B3DD-86B2B4778C49}" type="pres">
      <dgm:prSet presAssocID="{C9A9C0C1-D3DB-4D3C-A31F-2931FCF7AD8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61D0831-9467-487F-92EE-990E4070F495}" type="pres">
      <dgm:prSet presAssocID="{F3FACB1D-EC57-429E-A15E-5D6E4FF8178B}" presName="parTxOnlySpace" presStyleCnt="0"/>
      <dgm:spPr/>
    </dgm:pt>
    <dgm:pt modelId="{8CCB06E5-20AE-4E89-A73F-E60DB6FB3D0E}" type="pres">
      <dgm:prSet presAssocID="{579C4409-576E-45CF-8E66-EAE6A6A70175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C511A08-2851-4D9C-814F-89A2E795A655}" type="pres">
      <dgm:prSet presAssocID="{0227F677-9155-4BF1-A63B-2287975A156B}" presName="parTxOnlySpace" presStyleCnt="0"/>
      <dgm:spPr/>
    </dgm:pt>
    <dgm:pt modelId="{0916BD1C-B612-4617-9775-1E60D3FE07F7}" type="pres">
      <dgm:prSet presAssocID="{BEDDEB8B-8571-43DC-BB2E-FF62BBEDF56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ECC6903-0DFA-46F9-B602-390B8F7CF62A}" type="presOf" srcId="{6D154BB7-0567-4BDB-B2C0-277D850D443D}" destId="{9619B083-C493-47F3-9396-15115A0CF560}" srcOrd="0" destOrd="0" presId="urn:microsoft.com/office/officeart/2005/8/layout/chevron1"/>
    <dgm:cxn modelId="{EC2E802F-32CF-4281-A05B-F791668732E9}" srcId="{288D4969-2E0B-48E4-8347-41EB98BFFA52}" destId="{579C4409-576E-45CF-8E66-EAE6A6A70175}" srcOrd="2" destOrd="0" parTransId="{9E12F903-E65A-4EA0-A196-971C4E2EAAA9}" sibTransId="{0227F677-9155-4BF1-A63B-2287975A156B}"/>
    <dgm:cxn modelId="{ED9B813F-B337-4D85-BA7E-EC6AC30B161B}" type="presOf" srcId="{C9A9C0C1-D3DB-4D3C-A31F-2931FCF7AD80}" destId="{8E853F85-50ED-496C-B3DD-86B2B4778C49}" srcOrd="0" destOrd="0" presId="urn:microsoft.com/office/officeart/2005/8/layout/chevron1"/>
    <dgm:cxn modelId="{190AE564-8C82-491F-ACB4-9E192DFFEDCB}" srcId="{288D4969-2E0B-48E4-8347-41EB98BFFA52}" destId="{BEDDEB8B-8571-43DC-BB2E-FF62BBEDF56D}" srcOrd="3" destOrd="0" parTransId="{FBC45714-B0F9-4541-942F-25BB4E1FB058}" sibTransId="{95BFB9CA-ABC5-4747-80A4-FC0B3A688B37}"/>
    <dgm:cxn modelId="{B7B1956D-CAB8-488A-BB21-F5A802BD207D}" type="presOf" srcId="{BEDDEB8B-8571-43DC-BB2E-FF62BBEDF56D}" destId="{0916BD1C-B612-4617-9775-1E60D3FE07F7}" srcOrd="0" destOrd="0" presId="urn:microsoft.com/office/officeart/2005/8/layout/chevron1"/>
    <dgm:cxn modelId="{20735B79-643A-48B9-96FC-578BA500C66C}" type="presOf" srcId="{579C4409-576E-45CF-8E66-EAE6A6A70175}" destId="{8CCB06E5-20AE-4E89-A73F-E60DB6FB3D0E}" srcOrd="0" destOrd="0" presId="urn:microsoft.com/office/officeart/2005/8/layout/chevron1"/>
    <dgm:cxn modelId="{014F1EB2-3494-44FE-80C4-47121E9BF27D}" type="presOf" srcId="{288D4969-2E0B-48E4-8347-41EB98BFFA52}" destId="{FDE9ECB7-C8A4-4869-BFDE-6AFDF2B7D363}" srcOrd="0" destOrd="0" presId="urn:microsoft.com/office/officeart/2005/8/layout/chevron1"/>
    <dgm:cxn modelId="{4FA575B4-393B-418B-AF15-40DBBC76B2EA}" srcId="{288D4969-2E0B-48E4-8347-41EB98BFFA52}" destId="{6D154BB7-0567-4BDB-B2C0-277D850D443D}" srcOrd="0" destOrd="0" parTransId="{27098E60-61F2-46EC-8702-42EB323FC6CB}" sibTransId="{CA0DF909-E7C3-4003-95EF-928C5C7C0684}"/>
    <dgm:cxn modelId="{F7ED7ED0-3631-4564-AB51-F0B4AE0B8102}" srcId="{288D4969-2E0B-48E4-8347-41EB98BFFA52}" destId="{C9A9C0C1-D3DB-4D3C-A31F-2931FCF7AD80}" srcOrd="1" destOrd="0" parTransId="{3B9A4F4D-60FD-4FD3-AE7E-BAB866AA5A90}" sibTransId="{F3FACB1D-EC57-429E-A15E-5D6E4FF8178B}"/>
    <dgm:cxn modelId="{AF6BA922-2AA6-4DC1-B003-6B6D9C818852}" type="presParOf" srcId="{FDE9ECB7-C8A4-4869-BFDE-6AFDF2B7D363}" destId="{9619B083-C493-47F3-9396-15115A0CF560}" srcOrd="0" destOrd="0" presId="urn:microsoft.com/office/officeart/2005/8/layout/chevron1"/>
    <dgm:cxn modelId="{C785DB6C-318A-4549-8072-1DAFD499578C}" type="presParOf" srcId="{FDE9ECB7-C8A4-4869-BFDE-6AFDF2B7D363}" destId="{8C513232-44AD-4A04-AAE8-B3496521596B}" srcOrd="1" destOrd="0" presId="urn:microsoft.com/office/officeart/2005/8/layout/chevron1"/>
    <dgm:cxn modelId="{3C3A1981-9C06-4659-BC1D-F83684BD1A0B}" type="presParOf" srcId="{FDE9ECB7-C8A4-4869-BFDE-6AFDF2B7D363}" destId="{8E853F85-50ED-496C-B3DD-86B2B4778C49}" srcOrd="2" destOrd="0" presId="urn:microsoft.com/office/officeart/2005/8/layout/chevron1"/>
    <dgm:cxn modelId="{D2B09DEF-39E0-4C7F-B89E-B02D0A57E962}" type="presParOf" srcId="{FDE9ECB7-C8A4-4869-BFDE-6AFDF2B7D363}" destId="{861D0831-9467-487F-92EE-990E4070F495}" srcOrd="3" destOrd="0" presId="urn:microsoft.com/office/officeart/2005/8/layout/chevron1"/>
    <dgm:cxn modelId="{373786BA-4ED8-4B44-A515-3B7F7A2E4002}" type="presParOf" srcId="{FDE9ECB7-C8A4-4869-BFDE-6AFDF2B7D363}" destId="{8CCB06E5-20AE-4E89-A73F-E60DB6FB3D0E}" srcOrd="4" destOrd="0" presId="urn:microsoft.com/office/officeart/2005/8/layout/chevron1"/>
    <dgm:cxn modelId="{7C767B44-C3D7-4044-8389-586EF069E8A5}" type="presParOf" srcId="{FDE9ECB7-C8A4-4869-BFDE-6AFDF2B7D363}" destId="{6C511A08-2851-4D9C-814F-89A2E795A655}" srcOrd="5" destOrd="0" presId="urn:microsoft.com/office/officeart/2005/8/layout/chevron1"/>
    <dgm:cxn modelId="{8AFC96F0-FF35-4874-9E77-DAE35714B92D}" type="presParOf" srcId="{FDE9ECB7-C8A4-4869-BFDE-6AFDF2B7D363}" destId="{0916BD1C-B612-4617-9775-1E60D3FE07F7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19B083-C493-47F3-9396-15115A0CF560}">
      <dsp:nvSpPr>
        <dsp:cNvPr id="0" name=""/>
        <dsp:cNvSpPr/>
      </dsp:nvSpPr>
      <dsp:spPr>
        <a:xfrm>
          <a:off x="3770" y="405222"/>
          <a:ext cx="2194718" cy="8778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Video input</a:t>
          </a:r>
          <a:endParaRPr lang="he-IL" sz="1600" kern="1200" dirty="0"/>
        </a:p>
      </dsp:txBody>
      <dsp:txXfrm>
        <a:off x="442714" y="405222"/>
        <a:ext cx="1316831" cy="877887"/>
      </dsp:txXfrm>
    </dsp:sp>
    <dsp:sp modelId="{8E853F85-50ED-496C-B3DD-86B2B4778C49}">
      <dsp:nvSpPr>
        <dsp:cNvPr id="0" name=""/>
        <dsp:cNvSpPr/>
      </dsp:nvSpPr>
      <dsp:spPr>
        <a:xfrm>
          <a:off x="1979017" y="405222"/>
          <a:ext cx="2194718" cy="8778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ResNet50</a:t>
          </a:r>
          <a:r>
            <a:rPr lang="he-IL" sz="1600" kern="1200"/>
            <a:t> </a:t>
          </a:r>
          <a:endParaRPr lang="he-IL" sz="1600" kern="1200" dirty="0"/>
        </a:p>
      </dsp:txBody>
      <dsp:txXfrm>
        <a:off x="2417961" y="405222"/>
        <a:ext cx="1316831" cy="877887"/>
      </dsp:txXfrm>
    </dsp:sp>
    <dsp:sp modelId="{8CCB06E5-20AE-4E89-A73F-E60DB6FB3D0E}">
      <dsp:nvSpPr>
        <dsp:cNvPr id="0" name=""/>
        <dsp:cNvSpPr/>
      </dsp:nvSpPr>
      <dsp:spPr>
        <a:xfrm>
          <a:off x="3954264" y="405222"/>
          <a:ext cx="2194718" cy="8778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LSTM</a:t>
          </a:r>
          <a:endParaRPr lang="he-IL" sz="1600" kern="1200" dirty="0"/>
        </a:p>
      </dsp:txBody>
      <dsp:txXfrm>
        <a:off x="4393208" y="405222"/>
        <a:ext cx="1316831" cy="877887"/>
      </dsp:txXfrm>
    </dsp:sp>
    <dsp:sp modelId="{0916BD1C-B612-4617-9775-1E60D3FE07F7}">
      <dsp:nvSpPr>
        <dsp:cNvPr id="0" name=""/>
        <dsp:cNvSpPr/>
      </dsp:nvSpPr>
      <dsp:spPr>
        <a:xfrm>
          <a:off x="5929510" y="405222"/>
          <a:ext cx="2194718" cy="8778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Classification</a:t>
          </a:r>
          <a:endParaRPr lang="he-IL" sz="1600" kern="1200" dirty="0"/>
        </a:p>
      </dsp:txBody>
      <dsp:txXfrm>
        <a:off x="6368454" y="405222"/>
        <a:ext cx="1316831" cy="877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357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0A5C-9EED-A974-827D-59EB211D2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9D0DB-F911-0379-05CC-EDA6BA0BE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F22DB-CC24-272A-C09F-F5DC60FB8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14D40-3329-BEEF-87B0-4349E210F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647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B6471-00CE-55C8-8529-0C5C8A29E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49860-CB6A-595C-6273-E675B2F13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0F312-F04A-DEE8-A13F-37933979E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19CFA-4A68-57F3-A8A8-AFACCE1828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8261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570F7-0C7D-E320-1F0B-EF9D6DB42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C35D6-C756-ABB2-5071-2094E6221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B0779-A272-4B5C-DEDB-C5501A67B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274AE-695D-866B-301F-1E1153600F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65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1F6A9-490F-019E-F857-DBA448C8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08228-D307-30EA-68DD-83AB588F9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528635-2376-5FD7-39F3-98A486B22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27F53-2C7F-8695-E208-3F3D43575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249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8F148-4A2B-7B37-D967-1DCF9527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47BAA-7880-D1AE-5B20-4ADE4C999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10C87-E111-AEE8-3372-5C99D9BA4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F5364-7DF8-63B8-0697-A3BB3EE3B8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26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4C4EA-3771-C834-6089-E7DC877CD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25985-0105-4F23-2260-497BE834A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E1AA0-343E-225B-0B49-885584740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36416-C6B2-E65A-55A6-E978DCB5D3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01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4F25B-A478-2F50-391B-350D67383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4B350B-6CFF-C18E-4DB9-AEBA44343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F402E-085E-C0F5-3DDC-55CAB3EE5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7924A-B07B-E051-6A17-4087D8BDD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59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00F7C-940D-F213-3667-D96FC2C0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760D9-C7B3-165A-5843-932D7118B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717D9-F675-6B51-D6BA-7EC1537EB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73666-433B-911F-C592-FA54E26E9E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891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17347-47EF-F95A-0D55-A0A3A240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090F9-ED2C-A576-D0A5-AECFE4E46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FDC52-A490-4F31-60C5-7E8471DBE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7898B-02BC-FEE2-F5FB-94D46398C1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25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Shape 61"/>
          <p:cNvSpPr/>
          <p:nvPr/>
        </p:nvSpPr>
        <p:spPr>
          <a:xfrm>
            <a:off x="1036320" y="973183"/>
            <a:ext cx="101498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3970">
            <a:solidFill>
              <a:srgbClr val="18202A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4" name="Text 62"/>
          <p:cNvSpPr/>
          <p:nvPr/>
        </p:nvSpPr>
        <p:spPr>
          <a:xfrm>
            <a:off x="1417320" y="1508760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739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Smart Security</a:t>
            </a:r>
            <a:endParaRPr lang="en-US" sz="3400" dirty="0"/>
          </a:p>
        </p:txBody>
      </p:sp>
      <p:sp>
        <p:nvSpPr>
          <p:cNvPr id="65" name="Text 63"/>
          <p:cNvSpPr/>
          <p:nvPr/>
        </p:nvSpPr>
        <p:spPr>
          <a:xfrm>
            <a:off x="1463040" y="214884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202A"/>
                </a:solidFill>
              </a:rPr>
              <a:t>Video Violence Detection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1005840" y="3093720"/>
            <a:ext cx="10149840" cy="0"/>
          </a:xfrm>
          <a:prstGeom prst="line">
            <a:avLst/>
          </a:prstGeom>
          <a:noFill/>
          <a:ln w="12700">
            <a:solidFill>
              <a:srgbClr val="1820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7" name="Text 65"/>
          <p:cNvSpPr/>
          <p:nvPr/>
        </p:nvSpPr>
        <p:spPr>
          <a:xfrm>
            <a:off x="3105150" y="3615364"/>
            <a:ext cx="6049191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C5A66"/>
                </a:solidFill>
              </a:rPr>
              <a:t>A machine-learning model for detecting violence in videos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1325880" y="4480560"/>
            <a:ext cx="9601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7C8B93"/>
                </a:solidFill>
              </a:rPr>
              <a:t>Machine Learning Final Project, 2026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7C8B93"/>
                </a:solidFill>
              </a:rPr>
              <a:t>Institution: HIT | Lecturer: Shimon Turchak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7C8B93"/>
                </a:solidFill>
              </a:rPr>
              <a:t>Team: Ofir Duek · Michael Yehoshua · Aviv Meir · Rotem Aloni · Yarin Guberman</a:t>
            </a:r>
          </a:p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0" name="Text 68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01</a:t>
            </a:r>
            <a:endParaRPr lang="en-US" sz="900" dirty="0"/>
          </a:p>
        </p:txBody>
      </p:sp>
      <p:pic>
        <p:nvPicPr>
          <p:cNvPr id="77" name="תמונה 76">
            <a:extLst>
              <a:ext uri="{FF2B5EF4-FFF2-40B4-BE49-F238E27FC236}">
                <a16:creationId xmlns:a16="http://schemas.microsoft.com/office/drawing/2014/main" id="{8AF48B69-FE21-0E40-4BAA-4FE61C1F8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8312" y="-28945"/>
            <a:ext cx="2044336" cy="1854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94" name="תמונה 93">
            <a:extLst>
              <a:ext uri="{FF2B5EF4-FFF2-40B4-BE49-F238E27FC236}">
                <a16:creationId xmlns:a16="http://schemas.microsoft.com/office/drawing/2014/main" id="{E0207320-0CF8-D295-59DD-B194CCB19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82179" y="4918165"/>
            <a:ext cx="512884" cy="428916"/>
          </a:xfrm>
          <a:prstGeom prst="rect">
            <a:avLst/>
          </a:prstGeom>
        </p:spPr>
      </p:pic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92000" y="0"/>
            <a:ext cx="1223555" cy="64008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774473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Human Bottleneck in Scale Surveillance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Large video volumes create missed detections and delayed responses.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PROBLEM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3383280" y="3542216"/>
            <a:ext cx="1188720" cy="0"/>
          </a:xfrm>
          <a:prstGeom prst="line">
            <a:avLst/>
          </a:prstGeom>
          <a:noFill/>
          <a:ln w="25400">
            <a:solidFill>
              <a:srgbClr val="1739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68" name="Shape 66"/>
          <p:cNvSpPr/>
          <p:nvPr/>
        </p:nvSpPr>
        <p:spPr>
          <a:xfrm flipV="1">
            <a:off x="7498080" y="2690951"/>
            <a:ext cx="941829" cy="868679"/>
          </a:xfrm>
          <a:prstGeom prst="line">
            <a:avLst/>
          </a:prstGeom>
          <a:noFill/>
          <a:ln w="25400">
            <a:solidFill>
              <a:srgbClr val="E34B4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69" name="Shape 67"/>
          <p:cNvSpPr/>
          <p:nvPr/>
        </p:nvSpPr>
        <p:spPr>
          <a:xfrm>
            <a:off x="7498080" y="3559630"/>
            <a:ext cx="941828" cy="793788"/>
          </a:xfrm>
          <a:prstGeom prst="line">
            <a:avLst/>
          </a:prstGeom>
          <a:noFill/>
          <a:ln w="25400">
            <a:solidFill>
              <a:srgbClr val="E34B4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70" name="Shape 68"/>
          <p:cNvSpPr/>
          <p:nvPr/>
        </p:nvSpPr>
        <p:spPr>
          <a:xfrm>
            <a:off x="777240" y="214231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0160">
            <a:solidFill>
              <a:srgbClr val="1820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1" name="Text 69"/>
          <p:cNvSpPr/>
          <p:nvPr/>
        </p:nvSpPr>
        <p:spPr>
          <a:xfrm>
            <a:off x="914401" y="242316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95C"/>
                </a:solidFill>
              </a:rPr>
              <a:t>The Input: Scale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078993" y="301186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95C"/>
                </a:solidFill>
              </a:rPr>
              <a:t>1000+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17395C"/>
                </a:solidFill>
              </a:rPr>
              <a:t>Cameras</a:t>
            </a:r>
            <a:endParaRPr lang="en-US" sz="2500" dirty="0"/>
          </a:p>
        </p:txBody>
      </p:sp>
      <p:sp>
        <p:nvSpPr>
          <p:cNvPr id="73" name="Text 71"/>
          <p:cNvSpPr/>
          <p:nvPr/>
        </p:nvSpPr>
        <p:spPr>
          <a:xfrm>
            <a:off x="1012372" y="4083014"/>
            <a:ext cx="214884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sz="1000" dirty="0">
                <a:solidFill>
                  <a:srgbClr val="4C5A66"/>
                </a:solidFill>
              </a:rPr>
              <a:t>Massive 24/7 video feeds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4C5A66"/>
                </a:solidFill>
              </a:rPr>
              <a:t>More streams than humans can inspect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72000" y="2142310"/>
            <a:ext cx="2926080" cy="2834640"/>
          </a:xfrm>
          <a:prstGeom prst="roundRect">
            <a:avLst>
              <a:gd name="adj" fmla="val 2581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he-IL"/>
          </a:p>
        </p:txBody>
      </p:sp>
      <p:sp>
        <p:nvSpPr>
          <p:cNvPr id="75" name="Text 73"/>
          <p:cNvSpPr/>
          <p:nvPr/>
        </p:nvSpPr>
        <p:spPr>
          <a:xfrm>
            <a:off x="5239512" y="2316699"/>
            <a:ext cx="17190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95C"/>
                </a:solidFill>
              </a:rPr>
              <a:t>The Filter: Human Limit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4890516" y="413222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A21B"/>
                </a:solidFill>
              </a:rPr>
              <a:t>Operator Fatigue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4919473" y="4353418"/>
            <a:ext cx="2240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sz="1000" dirty="0">
                <a:solidFill>
                  <a:srgbClr val="4C5A66"/>
                </a:solidFill>
              </a:rPr>
              <a:t>Limited attention over long shifts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4C5A66"/>
                </a:solidFill>
              </a:rPr>
              <a:t>High cognitive load in crowded scenes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458200" y="1913710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FBEAEA"/>
          </a:solidFill>
          <a:ln w="10160">
            <a:solidFill>
              <a:srgbClr val="E34B4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0" name="Text 78"/>
          <p:cNvSpPr/>
          <p:nvPr/>
        </p:nvSpPr>
        <p:spPr>
          <a:xfrm>
            <a:off x="8686800" y="214231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34B4B"/>
                </a:solidFill>
              </a:rPr>
              <a:t>Missed Events</a:t>
            </a:r>
            <a:endParaRPr lang="en-US" sz="1150" dirty="0"/>
          </a:p>
        </p:txBody>
      </p:sp>
      <p:sp>
        <p:nvSpPr>
          <p:cNvPr id="81" name="Text 79"/>
          <p:cNvSpPr/>
          <p:nvPr/>
        </p:nvSpPr>
        <p:spPr>
          <a:xfrm>
            <a:off x="8686800" y="252635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C5A66"/>
                </a:solidFill>
              </a:rPr>
              <a:t>Failure to detect a violent incident when it matters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8458200" y="3971110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FBEAEA"/>
          </a:solidFill>
          <a:ln w="10160">
            <a:solidFill>
              <a:srgbClr val="E34B4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3" name="Text 81"/>
          <p:cNvSpPr/>
          <p:nvPr/>
        </p:nvSpPr>
        <p:spPr>
          <a:xfrm>
            <a:off x="8686800" y="419971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34B4B"/>
                </a:solidFill>
              </a:rPr>
              <a:t>Delayed Response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8686800" y="458375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C5A66"/>
                </a:solidFill>
              </a:rPr>
              <a:t>Late detection increases operational and public-safety risk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6" name="Text 84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02</a:t>
            </a:r>
            <a:endParaRPr lang="en-US" sz="900" dirty="0"/>
          </a:p>
        </p:txBody>
      </p:sp>
      <p:pic>
        <p:nvPicPr>
          <p:cNvPr id="89" name="תמונה 88">
            <a:extLst>
              <a:ext uri="{FF2B5EF4-FFF2-40B4-BE49-F238E27FC236}">
                <a16:creationId xmlns:a16="http://schemas.microsoft.com/office/drawing/2014/main" id="{A36D0618-B6FC-CC47-8C36-1547181FF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199" y="2779296"/>
            <a:ext cx="1860807" cy="1222078"/>
          </a:xfrm>
          <a:prstGeom prst="rect">
            <a:avLst/>
          </a:prstGeom>
        </p:spPr>
      </p:pic>
      <p:sp>
        <p:nvSpPr>
          <p:cNvPr id="76" name="Text 74"/>
          <p:cNvSpPr/>
          <p:nvPr/>
        </p:nvSpPr>
        <p:spPr>
          <a:xfrm>
            <a:off x="5788153" y="1726258"/>
            <a:ext cx="594360" cy="2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dirty="0">
                <a:solidFill>
                  <a:srgbClr val="F3A21B"/>
                </a:solidFill>
              </a:rPr>
              <a:t>⚠</a:t>
            </a:r>
            <a:endParaRPr lang="en-US" sz="4500" dirty="0"/>
          </a:p>
        </p:txBody>
      </p:sp>
      <p:pic>
        <p:nvPicPr>
          <p:cNvPr id="91" name="תמונה 90">
            <a:extLst>
              <a:ext uri="{FF2B5EF4-FFF2-40B4-BE49-F238E27FC236}">
                <a16:creationId xmlns:a16="http://schemas.microsoft.com/office/drawing/2014/main" id="{9E60A862-D5FF-BCED-9F18-F547FD97F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flipH="1">
            <a:off x="3233364" y="1654803"/>
            <a:ext cx="681792" cy="919365"/>
          </a:xfrm>
          <a:prstGeom prst="rect">
            <a:avLst/>
          </a:prstGeom>
        </p:spPr>
      </p:pic>
      <p:pic>
        <p:nvPicPr>
          <p:cNvPr id="92" name="תמונה 91">
            <a:extLst>
              <a:ext uri="{FF2B5EF4-FFF2-40B4-BE49-F238E27FC236}">
                <a16:creationId xmlns:a16="http://schemas.microsoft.com/office/drawing/2014/main" id="{8C953E45-AE5F-4B71-4F00-ED3F90939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74321" y="4147465"/>
            <a:ext cx="657126" cy="919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6A7B3-E512-B3F3-DC3A-4253142E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A50B48-A0FD-1F25-F3A4-6C62CFE16511}"/>
              </a:ext>
            </a:extLst>
          </p:cNvPr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38A031-CA90-C4D5-CDBB-6E72926976D9}"/>
              </a:ext>
            </a:extLst>
          </p:cNvPr>
          <p:cNvSpPr/>
          <p:nvPr/>
        </p:nvSpPr>
        <p:spPr>
          <a:xfrm flipH="1">
            <a:off x="350518" y="5989320"/>
            <a:ext cx="6941607" cy="86868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E7D576-4047-7977-58D1-C419F077B09E}"/>
              </a:ext>
            </a:extLst>
          </p:cNvPr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6C1436E-B2E0-94CE-C568-321A3CD4E821}"/>
              </a:ext>
            </a:extLst>
          </p:cNvPr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44349B5-F689-7041-1E18-0AA0CBCFF69F}"/>
              </a:ext>
            </a:extLst>
          </p:cNvPr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535FB2-F69B-05A1-52CC-1E69BBE07C29}"/>
              </a:ext>
            </a:extLst>
          </p:cNvPr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F25CF3C-2D64-A73A-9CB1-7F3197EA7627}"/>
              </a:ext>
            </a:extLst>
          </p:cNvPr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C83404C-0AF3-CEB4-EED4-54B646BCCEFD}"/>
              </a:ext>
            </a:extLst>
          </p:cNvPr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DBCF8C0-0B09-C415-70B4-CCBFD929E876}"/>
              </a:ext>
            </a:extLst>
          </p:cNvPr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00A7A93-80F8-39C9-380A-B01CEEDB6390}"/>
              </a:ext>
            </a:extLst>
          </p:cNvPr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9429A32-B6E3-52E8-9898-5DBB03A53006}"/>
              </a:ext>
            </a:extLst>
          </p:cNvPr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4954DB8-6225-DC1C-E960-B5B731D91582}"/>
              </a:ext>
            </a:extLst>
          </p:cNvPr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634BE3E-BB8B-25C8-29ED-6CF6D80ABE8E}"/>
              </a:ext>
            </a:extLst>
          </p:cNvPr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94" name="תמונה 93">
            <a:extLst>
              <a:ext uri="{FF2B5EF4-FFF2-40B4-BE49-F238E27FC236}">
                <a16:creationId xmlns:a16="http://schemas.microsoft.com/office/drawing/2014/main" id="{0C43BB80-87DB-C5F7-1415-5B74F1FD8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82179" y="4970412"/>
            <a:ext cx="512884" cy="428916"/>
          </a:xfrm>
          <a:prstGeom prst="rect">
            <a:avLst/>
          </a:prstGeom>
        </p:spPr>
      </p:pic>
      <p:sp>
        <p:nvSpPr>
          <p:cNvPr id="15" name="Shape 13">
            <a:extLst>
              <a:ext uri="{FF2B5EF4-FFF2-40B4-BE49-F238E27FC236}">
                <a16:creationId xmlns:a16="http://schemas.microsoft.com/office/drawing/2014/main" id="{33C90A4A-1EFE-C9FA-1710-FE49ECB05A01}"/>
              </a:ext>
            </a:extLst>
          </p:cNvPr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DE70D14-40B7-2CA3-3838-A32C1F6F9D99}"/>
              </a:ext>
            </a:extLst>
          </p:cNvPr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7DA72CC-0325-6929-9E67-9D42EB40BC8D}"/>
              </a:ext>
            </a:extLst>
          </p:cNvPr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00B4C67-97A6-D4F3-BD06-90C877B597E9}"/>
              </a:ext>
            </a:extLst>
          </p:cNvPr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565608E-FA1E-5AC8-43C0-525A6F379755}"/>
              </a:ext>
            </a:extLst>
          </p:cNvPr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4440A84-5A25-9603-D571-5CA3A7272E77}"/>
              </a:ext>
            </a:extLst>
          </p:cNvPr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8109F20-DCAE-4B81-2726-C9A9210291C3}"/>
              </a:ext>
            </a:extLst>
          </p:cNvPr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4F886C6-C11A-A602-4441-F7808EAAF5A2}"/>
              </a:ext>
            </a:extLst>
          </p:cNvPr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DD1FB7C-1923-8000-2A66-B0BB084762C2}"/>
              </a:ext>
            </a:extLst>
          </p:cNvPr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AF16615-4DBF-FC20-D440-CA214BAE2612}"/>
              </a:ext>
            </a:extLst>
          </p:cNvPr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8D532A2-DFC5-A977-7A8F-E8BE8075FFB2}"/>
              </a:ext>
            </a:extLst>
          </p:cNvPr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5BE20F1-7119-AF03-46B9-934852A04221}"/>
              </a:ext>
            </a:extLst>
          </p:cNvPr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0ED81A5-56E1-31A6-B80C-A1BBF05D1826}"/>
              </a:ext>
            </a:extLst>
          </p:cNvPr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04F60DF-9AD7-DD2D-1B50-F0027353AAD5}"/>
              </a:ext>
            </a:extLst>
          </p:cNvPr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DD86903-9A28-C67E-7D76-64244F3C31E7}"/>
              </a:ext>
            </a:extLst>
          </p:cNvPr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3D389CD-7519-5020-18DF-61A8CAAD9419}"/>
              </a:ext>
            </a:extLst>
          </p:cNvPr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A57B7E3-C2F5-D295-203E-09855BF0D906}"/>
              </a:ext>
            </a:extLst>
          </p:cNvPr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94D1EA1-8CD6-35FD-3014-52C5164B81BE}"/>
              </a:ext>
            </a:extLst>
          </p:cNvPr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D79AB8A-C4C7-9E19-2852-75100A9DC82F}"/>
              </a:ext>
            </a:extLst>
          </p:cNvPr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7D5F2A6-4BB7-7481-A79E-FB5D3913E99D}"/>
              </a:ext>
            </a:extLst>
          </p:cNvPr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F9BB5D76-496C-CE25-0777-9C058B1D92F6}"/>
              </a:ext>
            </a:extLst>
          </p:cNvPr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CADBC29-9ADF-3558-FFB4-2C5998D8ECE5}"/>
              </a:ext>
            </a:extLst>
          </p:cNvPr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38A6D448-AB40-BF53-5E59-37FEAB0548F2}"/>
              </a:ext>
            </a:extLst>
          </p:cNvPr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8DC1A69-A589-1368-D15F-16AB05F85E3B}"/>
              </a:ext>
            </a:extLst>
          </p:cNvPr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4C460B3-92DB-216F-0049-5F407D3EC6B8}"/>
              </a:ext>
            </a:extLst>
          </p:cNvPr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BC7748D-39C3-9781-CD59-552975719B7D}"/>
              </a:ext>
            </a:extLst>
          </p:cNvPr>
          <p:cNvSpPr/>
          <p:nvPr/>
        </p:nvSpPr>
        <p:spPr>
          <a:xfrm>
            <a:off x="12192000" y="0"/>
            <a:ext cx="1223555" cy="64008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8C7AA2A5-F544-58FB-ABB6-8685DA994158}"/>
              </a:ext>
            </a:extLst>
          </p:cNvPr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FDC20B0-6358-C06B-A933-C022D05EECDB}"/>
              </a:ext>
            </a:extLst>
          </p:cNvPr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709E41C9-14F1-230D-FBCA-8B868331BC69}"/>
              </a:ext>
            </a:extLst>
          </p:cNvPr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3CBCE629-3D66-9764-9E8C-A80295E6D9B4}"/>
              </a:ext>
            </a:extLst>
          </p:cNvPr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3676CDE8-4A79-F4CD-8870-BCBABF9F0DDF}"/>
              </a:ext>
            </a:extLst>
          </p:cNvPr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495C4D61-179C-EC0B-FD4B-47012F7A9D99}"/>
              </a:ext>
            </a:extLst>
          </p:cNvPr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ADAC6287-18AA-D110-C46C-31806D36F52B}"/>
              </a:ext>
            </a:extLst>
          </p:cNvPr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3C603C8-5199-9F8E-9148-A260166A6456}"/>
              </a:ext>
            </a:extLst>
          </p:cNvPr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FF5D302F-CDC4-3BA0-E3F8-0E2300A7F063}"/>
              </a:ext>
            </a:extLst>
          </p:cNvPr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52FD96C9-7D72-DA5C-CAFC-787B3C0330B6}"/>
              </a:ext>
            </a:extLst>
          </p:cNvPr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737B3A84-AEED-363C-E3DD-814718387049}"/>
              </a:ext>
            </a:extLst>
          </p:cNvPr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40FBD2E4-7D8F-D987-F47E-D0F49FC52777}"/>
              </a:ext>
            </a:extLst>
          </p:cNvPr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BCB71861-E136-7540-DACE-D4AA82108A1A}"/>
              </a:ext>
            </a:extLst>
          </p:cNvPr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43059A9B-4D73-176D-074F-73B37901AC84}"/>
              </a:ext>
            </a:extLst>
          </p:cNvPr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06EC7710-3B9B-2FE3-D88D-730A8341E5BA}"/>
              </a:ext>
            </a:extLst>
          </p:cNvPr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4AD77EBE-B76D-6749-EF11-CB4596FF3B9B}"/>
              </a:ext>
            </a:extLst>
          </p:cNvPr>
          <p:cNvSpPr/>
          <p:nvPr/>
        </p:nvSpPr>
        <p:spPr>
          <a:xfrm>
            <a:off x="0" y="514023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A6ED01B9-2C3E-C774-0872-D9AA9A4BEBDB}"/>
              </a:ext>
            </a:extLst>
          </p:cNvPr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4D867225-29A9-CE85-C8D5-CB8B9CD4FBFA}"/>
              </a:ext>
            </a:extLst>
          </p:cNvPr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406ED3AD-B995-A3FA-C463-C993CB6A2D54}"/>
              </a:ext>
            </a:extLst>
          </p:cNvPr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AC21C529-0089-8AEB-A5F3-7447E2873F71}"/>
              </a:ext>
            </a:extLst>
          </p:cNvPr>
          <p:cNvSpPr/>
          <p:nvPr/>
        </p:nvSpPr>
        <p:spPr>
          <a:xfrm>
            <a:off x="3461219" y="3886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73E9EC37-E93D-2252-815F-4C594FB49803}"/>
              </a:ext>
            </a:extLst>
          </p:cNvPr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2EBA7DDC-A502-57FB-EFD1-891741C510D5}"/>
              </a:ext>
            </a:extLst>
          </p:cNvPr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930EFE23-2178-90C0-117C-059EBB9CD379}"/>
              </a:ext>
            </a:extLst>
          </p:cNvPr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8202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Smart Security: Automated Violence Detection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DCC9D381-6D5F-D18A-A2BA-04B28E77B5AA}"/>
              </a:ext>
            </a:extLst>
          </p:cNvPr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C5A6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Deep learning transforms massive video feeds into actionable, real-time insights.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DE0F4984-8BDF-2E56-E4E2-6A6EC96FB1CB}"/>
              </a:ext>
            </a:extLst>
          </p:cNvPr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8129F731-52C5-AA41-5EA6-3479C7EE7128}"/>
              </a:ext>
            </a:extLst>
          </p:cNvPr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SOLUTION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1DBF2731-9913-5257-8AF2-9F12D677A2AF}"/>
              </a:ext>
            </a:extLst>
          </p:cNvPr>
          <p:cNvSpPr/>
          <p:nvPr/>
        </p:nvSpPr>
        <p:spPr>
          <a:xfrm flipV="1">
            <a:off x="3383280" y="3602083"/>
            <a:ext cx="457200" cy="9794"/>
          </a:xfrm>
          <a:prstGeom prst="line">
            <a:avLst/>
          </a:prstGeom>
          <a:noFill/>
          <a:ln w="25400">
            <a:solidFill>
              <a:srgbClr val="1739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AF0736A8-73AF-DF0D-6721-FD622724DEB6}"/>
              </a:ext>
            </a:extLst>
          </p:cNvPr>
          <p:cNvSpPr/>
          <p:nvPr/>
        </p:nvSpPr>
        <p:spPr>
          <a:xfrm>
            <a:off x="777240" y="2194557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0160">
            <a:solidFill>
              <a:srgbClr val="1820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B0780CC6-D3AD-8F22-A5A6-39B3EECD9CEE}"/>
              </a:ext>
            </a:extLst>
          </p:cNvPr>
          <p:cNvSpPr/>
          <p:nvPr/>
        </p:nvSpPr>
        <p:spPr>
          <a:xfrm>
            <a:off x="1005840" y="2397031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7395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Input: Scale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12902B80-5242-092F-830E-1B3BACD4E3B0}"/>
              </a:ext>
            </a:extLst>
          </p:cNvPr>
          <p:cNvSpPr/>
          <p:nvPr/>
        </p:nvSpPr>
        <p:spPr>
          <a:xfrm>
            <a:off x="1074420" y="3064109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7395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1000+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7395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Cameras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CFCEB5DA-6B6E-B26B-A7CB-C28FFCDD31AD}"/>
              </a:ext>
            </a:extLst>
          </p:cNvPr>
          <p:cNvSpPr/>
          <p:nvPr/>
        </p:nvSpPr>
        <p:spPr>
          <a:xfrm>
            <a:off x="1005840" y="4135261"/>
            <a:ext cx="214884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C5A6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Massive 24/7 video feeds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C5A6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More streams than humans can inspect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2679A5EF-DFA0-239A-7A8E-55DDF8892DC6}"/>
              </a:ext>
            </a:extLst>
          </p:cNvPr>
          <p:cNvSpPr/>
          <p:nvPr/>
        </p:nvSpPr>
        <p:spPr>
          <a:xfrm>
            <a:off x="9418321" y="1652447"/>
            <a:ext cx="2325194" cy="1508760"/>
          </a:xfrm>
          <a:prstGeom prst="roundRect">
            <a:avLst>
              <a:gd name="adj" fmla="val 4848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26B7D1B5-4DC1-D4C8-1EEF-3FDD37274269}"/>
              </a:ext>
            </a:extLst>
          </p:cNvPr>
          <p:cNvSpPr/>
          <p:nvPr/>
        </p:nvSpPr>
        <p:spPr>
          <a:xfrm>
            <a:off x="9647029" y="1881047"/>
            <a:ext cx="1867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Validated Accuracy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F3004206-DAF1-CAA0-F892-0E12C9BF06FB}"/>
              </a:ext>
            </a:extLst>
          </p:cNvPr>
          <p:cNvSpPr/>
          <p:nvPr/>
        </p:nvSpPr>
        <p:spPr>
          <a:xfrm>
            <a:off x="9500912" y="2187927"/>
            <a:ext cx="2160012" cy="788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C5A6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Precisely classifies violent vs. routine behavior, ensuring critical incidents are never missed.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927AC5C1-1638-8DB6-56B9-EC18736A3861}"/>
              </a:ext>
            </a:extLst>
          </p:cNvPr>
          <p:cNvSpPr/>
          <p:nvPr/>
        </p:nvSpPr>
        <p:spPr>
          <a:xfrm>
            <a:off x="9418321" y="3884013"/>
            <a:ext cx="2325194" cy="1508760"/>
          </a:xfrm>
          <a:prstGeom prst="roundRect">
            <a:avLst>
              <a:gd name="adj" fmla="val 4848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80A31C68-F101-B087-3CC4-E41A1222010B}"/>
              </a:ext>
            </a:extLst>
          </p:cNvPr>
          <p:cNvSpPr/>
          <p:nvPr/>
        </p:nvSpPr>
        <p:spPr>
          <a:xfrm>
            <a:off x="9647029" y="4112613"/>
            <a:ext cx="1867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Real-Time Alerts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EB8A5CDF-C746-2E19-C6A1-974861E2FBC2}"/>
              </a:ext>
            </a:extLst>
          </p:cNvPr>
          <p:cNvSpPr/>
          <p:nvPr/>
        </p:nvSpPr>
        <p:spPr>
          <a:xfrm>
            <a:off x="9647029" y="4621854"/>
            <a:ext cx="18677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50" dirty="0">
                <a:solidFill>
                  <a:srgbClr val="4C5A66"/>
                </a:solidFill>
                <a:latin typeface="Aptos"/>
              </a:rPr>
              <a:t>Immediate notifications sent to security forces, enabling rapid response and minimizing risk to human life.</a:t>
            </a: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7ACF9A79-5F49-DE5A-80BF-BE059D878ECC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6CCE5613-81CA-4CA8-3A72-E0914B4D1F19}"/>
              </a:ext>
            </a:extLst>
          </p:cNvPr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7C8B9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CD508A21-8BB9-0108-7AD3-16E17806D2CF}"/>
              </a:ext>
            </a:extLst>
          </p:cNvPr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7395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91" name="תמונה 90">
            <a:extLst>
              <a:ext uri="{FF2B5EF4-FFF2-40B4-BE49-F238E27FC236}">
                <a16:creationId xmlns:a16="http://schemas.microsoft.com/office/drawing/2014/main" id="{3E5A795E-B7B8-9CBD-4815-0E3700D67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 flipH="1">
            <a:off x="3233364" y="1707050"/>
            <a:ext cx="681792" cy="919365"/>
          </a:xfrm>
          <a:prstGeom prst="rect">
            <a:avLst/>
          </a:prstGeom>
        </p:spPr>
      </p:pic>
      <p:pic>
        <p:nvPicPr>
          <p:cNvPr id="92" name="תמונה 91">
            <a:extLst>
              <a:ext uri="{FF2B5EF4-FFF2-40B4-BE49-F238E27FC236}">
                <a16:creationId xmlns:a16="http://schemas.microsoft.com/office/drawing/2014/main" id="{3098FAD8-2515-7E71-226B-799EFB0AE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74321" y="4199712"/>
            <a:ext cx="657126" cy="919365"/>
          </a:xfrm>
          <a:prstGeom prst="rect">
            <a:avLst/>
          </a:prstGeom>
        </p:spPr>
      </p:pic>
      <p:sp>
        <p:nvSpPr>
          <p:cNvPr id="74" name="Shape 72">
            <a:extLst>
              <a:ext uri="{FF2B5EF4-FFF2-40B4-BE49-F238E27FC236}">
                <a16:creationId xmlns:a16="http://schemas.microsoft.com/office/drawing/2014/main" id="{12083305-A642-84DE-B529-C54FD41026BF}"/>
              </a:ext>
            </a:extLst>
          </p:cNvPr>
          <p:cNvSpPr/>
          <p:nvPr/>
        </p:nvSpPr>
        <p:spPr>
          <a:xfrm>
            <a:off x="3884009" y="2194557"/>
            <a:ext cx="2103119" cy="2834640"/>
          </a:xfrm>
          <a:prstGeom prst="roundRect">
            <a:avLst>
              <a:gd name="adj" fmla="val 2581"/>
            </a:avLst>
          </a:prstGeom>
          <a:ln>
            <a:solidFill>
              <a:srgbClr val="00B0F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20ACB613-48B7-F33E-A46B-E11D2CE4E6AF}"/>
              </a:ext>
            </a:extLst>
          </p:cNvPr>
          <p:cNvSpPr/>
          <p:nvPr/>
        </p:nvSpPr>
        <p:spPr>
          <a:xfrm>
            <a:off x="4270320" y="2376132"/>
            <a:ext cx="1330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7395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Filter: AI Model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0B7960ED-C7A7-4825-1715-A60F1A86B18E}"/>
              </a:ext>
            </a:extLst>
          </p:cNvPr>
          <p:cNvSpPr/>
          <p:nvPr/>
        </p:nvSpPr>
        <p:spPr>
          <a:xfrm>
            <a:off x="4114037" y="3840478"/>
            <a:ext cx="16430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Tireless Automation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BD48EE68-C627-C48A-619C-811E93A90986}"/>
              </a:ext>
            </a:extLst>
          </p:cNvPr>
          <p:cNvSpPr/>
          <p:nvPr/>
        </p:nvSpPr>
        <p:spPr>
          <a:xfrm>
            <a:off x="4161878" y="4161836"/>
            <a:ext cx="1547381" cy="6257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C5A6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Continuous 24/7 video processing using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4C5A6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MViT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C5A6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C5A6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Filters out 99% of routine video data.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90" name="תמונה 89">
            <a:extLst>
              <a:ext uri="{FF2B5EF4-FFF2-40B4-BE49-F238E27FC236}">
                <a16:creationId xmlns:a16="http://schemas.microsoft.com/office/drawing/2014/main" id="{1F8061B1-7838-3CD3-1ED7-50377D4AE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2827" y="2746403"/>
            <a:ext cx="1185483" cy="1096259"/>
          </a:xfrm>
          <a:prstGeom prst="rect">
            <a:avLst/>
          </a:prstGeom>
        </p:spPr>
      </p:pic>
      <p:pic>
        <p:nvPicPr>
          <p:cNvPr id="97" name="גרפיקה 96" descr="פגיעה במטרה קו מיתאר">
            <a:extLst>
              <a:ext uri="{FF2B5EF4-FFF2-40B4-BE49-F238E27FC236}">
                <a16:creationId xmlns:a16="http://schemas.microsoft.com/office/drawing/2014/main" id="{9D77F301-DA22-26B1-FB82-976F728FE3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77717" y="1763490"/>
            <a:ext cx="474182" cy="474182"/>
          </a:xfrm>
          <a:prstGeom prst="rect">
            <a:avLst/>
          </a:prstGeom>
        </p:spPr>
      </p:pic>
      <p:pic>
        <p:nvPicPr>
          <p:cNvPr id="99" name="תמונה 98">
            <a:extLst>
              <a:ext uri="{FF2B5EF4-FFF2-40B4-BE49-F238E27FC236}">
                <a16:creationId xmlns:a16="http://schemas.microsoft.com/office/drawing/2014/main" id="{D1118B8E-7CA6-7FA9-9E0B-5B78634126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1201400" y="3912316"/>
            <a:ext cx="602494" cy="524872"/>
          </a:xfrm>
          <a:prstGeom prst="rect">
            <a:avLst/>
          </a:prstGeom>
        </p:spPr>
      </p:pic>
      <p:sp>
        <p:nvSpPr>
          <p:cNvPr id="103" name="Shape 65">
            <a:extLst>
              <a:ext uri="{FF2B5EF4-FFF2-40B4-BE49-F238E27FC236}">
                <a16:creationId xmlns:a16="http://schemas.microsoft.com/office/drawing/2014/main" id="{9ACA7565-7C0F-3172-D3A0-293B584341CC}"/>
              </a:ext>
            </a:extLst>
          </p:cNvPr>
          <p:cNvSpPr/>
          <p:nvPr/>
        </p:nvSpPr>
        <p:spPr>
          <a:xfrm flipV="1">
            <a:off x="5986058" y="3572692"/>
            <a:ext cx="442173" cy="0"/>
          </a:xfrm>
          <a:prstGeom prst="line">
            <a:avLst/>
          </a:prstGeom>
          <a:noFill/>
          <a:ln w="25400">
            <a:solidFill>
              <a:srgbClr val="1739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04" name="Shape 72">
            <a:extLst>
              <a:ext uri="{FF2B5EF4-FFF2-40B4-BE49-F238E27FC236}">
                <a16:creationId xmlns:a16="http://schemas.microsoft.com/office/drawing/2014/main" id="{E812CAB2-AF8D-6B6E-4E12-726972CB8B49}"/>
              </a:ext>
            </a:extLst>
          </p:cNvPr>
          <p:cNvSpPr/>
          <p:nvPr/>
        </p:nvSpPr>
        <p:spPr>
          <a:xfrm>
            <a:off x="6500957" y="2194557"/>
            <a:ext cx="2103119" cy="2834640"/>
          </a:xfrm>
          <a:prstGeom prst="roundRect">
            <a:avLst>
              <a:gd name="adj" fmla="val 2581"/>
            </a:avLst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05" name="Text 73">
            <a:extLst>
              <a:ext uri="{FF2B5EF4-FFF2-40B4-BE49-F238E27FC236}">
                <a16:creationId xmlns:a16="http://schemas.microsoft.com/office/drawing/2014/main" id="{143EF387-DE06-7D55-B693-7D7602808C39}"/>
              </a:ext>
            </a:extLst>
          </p:cNvPr>
          <p:cNvSpPr/>
          <p:nvPr/>
        </p:nvSpPr>
        <p:spPr>
          <a:xfrm>
            <a:off x="6463723" y="2315340"/>
            <a:ext cx="2242672" cy="361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7395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Decider: Human Operator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8" name="Shape 66">
            <a:extLst>
              <a:ext uri="{FF2B5EF4-FFF2-40B4-BE49-F238E27FC236}">
                <a16:creationId xmlns:a16="http://schemas.microsoft.com/office/drawing/2014/main" id="{10B7B157-851F-A366-754C-1F1F20B9E57A}"/>
              </a:ext>
            </a:extLst>
          </p:cNvPr>
          <p:cNvSpPr/>
          <p:nvPr/>
        </p:nvSpPr>
        <p:spPr>
          <a:xfrm flipV="1">
            <a:off x="8624748" y="2599722"/>
            <a:ext cx="780226" cy="746003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he-IL"/>
          </a:p>
        </p:txBody>
      </p:sp>
      <p:sp>
        <p:nvSpPr>
          <p:cNvPr id="106" name="Text 75">
            <a:extLst>
              <a:ext uri="{FF2B5EF4-FFF2-40B4-BE49-F238E27FC236}">
                <a16:creationId xmlns:a16="http://schemas.microsoft.com/office/drawing/2014/main" id="{382B2EFC-7092-44F9-07E6-BF15A553E91A}"/>
              </a:ext>
            </a:extLst>
          </p:cNvPr>
          <p:cNvSpPr/>
          <p:nvPr/>
        </p:nvSpPr>
        <p:spPr>
          <a:xfrm>
            <a:off x="6730985" y="3853532"/>
            <a:ext cx="16430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Focused Verification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9" name="Shape 66">
            <a:extLst>
              <a:ext uri="{FF2B5EF4-FFF2-40B4-BE49-F238E27FC236}">
                <a16:creationId xmlns:a16="http://schemas.microsoft.com/office/drawing/2014/main" id="{01871905-C413-D345-3E60-E89DDE13FFE2}"/>
              </a:ext>
            </a:extLst>
          </p:cNvPr>
          <p:cNvSpPr/>
          <p:nvPr/>
        </p:nvSpPr>
        <p:spPr>
          <a:xfrm>
            <a:off x="8604077" y="3345728"/>
            <a:ext cx="795956" cy="829162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he-IL"/>
          </a:p>
        </p:txBody>
      </p:sp>
      <p:sp>
        <p:nvSpPr>
          <p:cNvPr id="107" name="Text 76">
            <a:extLst>
              <a:ext uri="{FF2B5EF4-FFF2-40B4-BE49-F238E27FC236}">
                <a16:creationId xmlns:a16="http://schemas.microsoft.com/office/drawing/2014/main" id="{42A52180-5D01-3D81-4D9B-6A5140BA9EFD}"/>
              </a:ext>
            </a:extLst>
          </p:cNvPr>
          <p:cNvSpPr/>
          <p:nvPr/>
        </p:nvSpPr>
        <p:spPr>
          <a:xfrm>
            <a:off x="6778826" y="4174890"/>
            <a:ext cx="1547381" cy="6257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C5A6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Operators review only AI-flagged events. Retaining final authority with zero cognitive overload.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11" name="תמונה 110">
            <a:extLst>
              <a:ext uri="{FF2B5EF4-FFF2-40B4-BE49-F238E27FC236}">
                <a16:creationId xmlns:a16="http://schemas.microsoft.com/office/drawing/2014/main" id="{150951B3-9DEE-24DA-2B73-32CAB88319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881385" y="2684078"/>
            <a:ext cx="1342262" cy="1158584"/>
          </a:xfrm>
          <a:prstGeom prst="rect">
            <a:avLst/>
          </a:prstGeom>
        </p:spPr>
      </p:pic>
      <p:pic>
        <p:nvPicPr>
          <p:cNvPr id="113" name="תמונה 112">
            <a:extLst>
              <a:ext uri="{FF2B5EF4-FFF2-40B4-BE49-F238E27FC236}">
                <a16:creationId xmlns:a16="http://schemas.microsoft.com/office/drawing/2014/main" id="{CC48B545-4558-DAEC-412F-66E49903F4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7350796" y="2898733"/>
            <a:ext cx="361143" cy="300574"/>
          </a:xfrm>
          <a:prstGeom prst="rect">
            <a:avLst/>
          </a:prstGeom>
        </p:spPr>
      </p:pic>
      <p:sp>
        <p:nvSpPr>
          <p:cNvPr id="114" name="תיבת טקסט 113">
            <a:extLst>
              <a:ext uri="{FF2B5EF4-FFF2-40B4-BE49-F238E27FC236}">
                <a16:creationId xmlns:a16="http://schemas.microsoft.com/office/drawing/2014/main" id="{168A39D4-E3DB-9B16-FA0B-632A542B1D75}"/>
              </a:ext>
            </a:extLst>
          </p:cNvPr>
          <p:cNvSpPr txBox="1"/>
          <p:nvPr/>
        </p:nvSpPr>
        <p:spPr>
          <a:xfrm>
            <a:off x="7112462" y="3200400"/>
            <a:ext cx="837811" cy="2154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00" dirty="0">
                <a:solidFill>
                  <a:srgbClr val="740000"/>
                </a:solidFill>
              </a:rPr>
              <a:t>ALERT</a:t>
            </a:r>
            <a:endParaRPr lang="he-IL" sz="800" dirty="0">
              <a:solidFill>
                <a:srgbClr val="740000"/>
              </a:solidFill>
            </a:endParaRPr>
          </a:p>
        </p:txBody>
      </p:sp>
      <p:sp>
        <p:nvSpPr>
          <p:cNvPr id="116" name="מלבן 115">
            <a:extLst>
              <a:ext uri="{FF2B5EF4-FFF2-40B4-BE49-F238E27FC236}">
                <a16:creationId xmlns:a16="http://schemas.microsoft.com/office/drawing/2014/main" id="{ECE29605-4F91-F628-42FF-FB4AB5FD65AD}"/>
              </a:ext>
            </a:extLst>
          </p:cNvPr>
          <p:cNvSpPr/>
          <p:nvPr/>
        </p:nvSpPr>
        <p:spPr>
          <a:xfrm>
            <a:off x="6895446" y="2746403"/>
            <a:ext cx="1271009" cy="8262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7" name="Text 84">
            <a:extLst>
              <a:ext uri="{FF2B5EF4-FFF2-40B4-BE49-F238E27FC236}">
                <a16:creationId xmlns:a16="http://schemas.microsoft.com/office/drawing/2014/main" id="{185BCA69-6174-8072-521E-1BFABF04D8E3}"/>
              </a:ext>
            </a:extLst>
          </p:cNvPr>
          <p:cNvSpPr/>
          <p:nvPr/>
        </p:nvSpPr>
        <p:spPr>
          <a:xfrm>
            <a:off x="749664" y="6005641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95C"/>
                </a:solidFill>
              </a:rPr>
              <a:t>AI does not replace judgment; it reduces the search space and highlights high-risk clips.</a:t>
            </a:r>
            <a:endParaRPr lang="en-US" sz="1200" dirty="0"/>
          </a:p>
        </p:txBody>
      </p:sp>
      <p:sp>
        <p:nvSpPr>
          <p:cNvPr id="120" name="Shape 56">
            <a:extLst>
              <a:ext uri="{FF2B5EF4-FFF2-40B4-BE49-F238E27FC236}">
                <a16:creationId xmlns:a16="http://schemas.microsoft.com/office/drawing/2014/main" id="{C550AA47-5CE3-91C8-E106-44BF4EC09347}"/>
              </a:ext>
            </a:extLst>
          </p:cNvPr>
          <p:cNvSpPr/>
          <p:nvPr/>
        </p:nvSpPr>
        <p:spPr>
          <a:xfrm>
            <a:off x="43543" y="6115594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85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530CA-06D1-0234-AD6F-F0A937487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345A6B-0DE9-BF94-C268-3202693CACA2}"/>
              </a:ext>
            </a:extLst>
          </p:cNvPr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83D442-6C66-EA21-EF06-8033B1BD4621}"/>
              </a:ext>
            </a:extLst>
          </p:cNvPr>
          <p:cNvSpPr/>
          <p:nvPr/>
        </p:nvSpPr>
        <p:spPr>
          <a:xfrm flipH="1">
            <a:off x="350518" y="5989320"/>
            <a:ext cx="6941607" cy="86868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F57BC7-32F7-E1D1-3899-1E329C52FC89}"/>
              </a:ext>
            </a:extLst>
          </p:cNvPr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34C19CB-A1AB-719D-08FD-E34B6CF082EF}"/>
              </a:ext>
            </a:extLst>
          </p:cNvPr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36888B8-63F6-0276-09D6-C92A7FB2380D}"/>
              </a:ext>
            </a:extLst>
          </p:cNvPr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502D845-C0F3-2B50-483A-7E1A40EA5BD2}"/>
              </a:ext>
            </a:extLst>
          </p:cNvPr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BA49C6E-D45E-6526-0D40-8A1A26FFB440}"/>
              </a:ext>
            </a:extLst>
          </p:cNvPr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E9478E6-9799-361A-6FC5-8AD410ABE79E}"/>
              </a:ext>
            </a:extLst>
          </p:cNvPr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E86CB8E-3779-36FC-8ACB-76D6E1566B5C}"/>
              </a:ext>
            </a:extLst>
          </p:cNvPr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3A4ABC9-789A-9FC2-FD5E-B3AC19EAE44B}"/>
              </a:ext>
            </a:extLst>
          </p:cNvPr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038C6F7-646A-0222-718C-561BE4AAB867}"/>
              </a:ext>
            </a:extLst>
          </p:cNvPr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F514CB9-F055-7186-8411-A879FC8FCF86}"/>
              </a:ext>
            </a:extLst>
          </p:cNvPr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2E084AC-DEE7-BDED-D556-AB25664C8E59}"/>
              </a:ext>
            </a:extLst>
          </p:cNvPr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FE31942-04C8-911D-43BC-04E2B02F77B7}"/>
              </a:ext>
            </a:extLst>
          </p:cNvPr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38A7D8E-D65D-16BE-30AA-89547AB9CCC8}"/>
              </a:ext>
            </a:extLst>
          </p:cNvPr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B8ABFD0-4E08-3EF1-F17B-5108A9CB8A14}"/>
              </a:ext>
            </a:extLst>
          </p:cNvPr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4019D77-98EB-EEB2-2B1F-C01542797780}"/>
              </a:ext>
            </a:extLst>
          </p:cNvPr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2B47667-88B8-105E-5177-301BDD1C00A6}"/>
              </a:ext>
            </a:extLst>
          </p:cNvPr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F8D6E2B-6E8B-34E4-38B4-06A13313CE0F}"/>
              </a:ext>
            </a:extLst>
          </p:cNvPr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222432E-C2AD-9407-89EF-16C96F5F8901}"/>
              </a:ext>
            </a:extLst>
          </p:cNvPr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35C0E2E-4B01-CA28-F5EB-236D386DCB25}"/>
              </a:ext>
            </a:extLst>
          </p:cNvPr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2594CD3-8486-A0E6-F2A9-A71879AED280}"/>
              </a:ext>
            </a:extLst>
          </p:cNvPr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061A568-EAC1-D6B6-A32E-F11EDC969154}"/>
              </a:ext>
            </a:extLst>
          </p:cNvPr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4E25527-5659-F6D4-5F0D-D067F84D2FBB}"/>
              </a:ext>
            </a:extLst>
          </p:cNvPr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3851AF5-0EFF-A65D-DE8E-CAE27883C748}"/>
              </a:ext>
            </a:extLst>
          </p:cNvPr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EBAF3C9-CFB1-7CFF-C71E-90328D0E698E}"/>
              </a:ext>
            </a:extLst>
          </p:cNvPr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B83D701-E268-ADF6-D1FC-EDF0F314A349}"/>
              </a:ext>
            </a:extLst>
          </p:cNvPr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AD35FA2-D694-C399-7599-C6F1CBFB01CB}"/>
              </a:ext>
            </a:extLst>
          </p:cNvPr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A910C3F-88EB-D1CC-57AE-003AA5F49D32}"/>
              </a:ext>
            </a:extLst>
          </p:cNvPr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E8691B2-2F8F-9ABD-1DF4-C0E3D16B242E}"/>
              </a:ext>
            </a:extLst>
          </p:cNvPr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72BB180-563F-7236-E3E1-986E319F423D}"/>
              </a:ext>
            </a:extLst>
          </p:cNvPr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222E135-5784-F871-8654-CCABA3A14102}"/>
              </a:ext>
            </a:extLst>
          </p:cNvPr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416EBE4-4FE8-0F64-5DCB-9803144C76CE}"/>
              </a:ext>
            </a:extLst>
          </p:cNvPr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F9F0C24F-B591-976B-E5FF-0BD8792D3C28}"/>
              </a:ext>
            </a:extLst>
          </p:cNvPr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27720BC-50D3-F324-BE36-C87CC7FDE53B}"/>
              </a:ext>
            </a:extLst>
          </p:cNvPr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2E07EA55-191F-F781-084E-208B0F8CAF73}"/>
              </a:ext>
            </a:extLst>
          </p:cNvPr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71DE0D7-C36F-0DD6-D59D-EA0740817C77}"/>
              </a:ext>
            </a:extLst>
          </p:cNvPr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E6A0464-A790-B99B-0C8E-0D22A862E5D3}"/>
              </a:ext>
            </a:extLst>
          </p:cNvPr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6CBBE3D9-8244-34B0-D9A6-1022FA86D42F}"/>
              </a:ext>
            </a:extLst>
          </p:cNvPr>
          <p:cNvSpPr/>
          <p:nvPr/>
        </p:nvSpPr>
        <p:spPr>
          <a:xfrm>
            <a:off x="12192000" y="0"/>
            <a:ext cx="1223555" cy="64008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92064D6D-105E-E627-2373-437782BC46DC}"/>
              </a:ext>
            </a:extLst>
          </p:cNvPr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99EE1DC9-23A0-DB66-D6E7-1F7A0A2DEEDC}"/>
              </a:ext>
            </a:extLst>
          </p:cNvPr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726EC5D3-D69B-FF6D-DCAD-05E17B0A2517}"/>
              </a:ext>
            </a:extLst>
          </p:cNvPr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35B8714-AA97-A614-E1E9-D34DE86C02AD}"/>
              </a:ext>
            </a:extLst>
          </p:cNvPr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3440D5F7-66F0-186E-A1C6-E4C561A6A828}"/>
              </a:ext>
            </a:extLst>
          </p:cNvPr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3821F221-F8F3-9E1D-C122-9A711A362021}"/>
              </a:ext>
            </a:extLst>
          </p:cNvPr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6BD010DD-039D-6DD0-C31C-3DA741BEC762}"/>
              </a:ext>
            </a:extLst>
          </p:cNvPr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486F568-530D-1E4B-F098-D6563421C6DC}"/>
              </a:ext>
            </a:extLst>
          </p:cNvPr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96BE2A5D-BCDA-6E2E-60AA-29A395BA6F4D}"/>
              </a:ext>
            </a:extLst>
          </p:cNvPr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129E5138-83DE-9E96-A416-86A2CC83F6DB}"/>
              </a:ext>
            </a:extLst>
          </p:cNvPr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1AD44959-5664-285F-0632-8E110DEB1FEE}"/>
              </a:ext>
            </a:extLst>
          </p:cNvPr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CC2ACB4D-E147-9FFC-0367-8580501D61B4}"/>
              </a:ext>
            </a:extLst>
          </p:cNvPr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5980539F-94E2-0FFA-CA6F-EE8FCED4994C}"/>
              </a:ext>
            </a:extLst>
          </p:cNvPr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6F307D99-7197-E02A-C9CE-4B11FB4261C6}"/>
              </a:ext>
            </a:extLst>
          </p:cNvPr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478CA5E0-58E4-AAAE-AA64-C7891B2F363F}"/>
              </a:ext>
            </a:extLst>
          </p:cNvPr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312DDCB0-CB12-4939-BF6E-D80626B91D3C}"/>
              </a:ext>
            </a:extLst>
          </p:cNvPr>
          <p:cNvSpPr/>
          <p:nvPr/>
        </p:nvSpPr>
        <p:spPr>
          <a:xfrm>
            <a:off x="0" y="514023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F2CBBB2B-5D31-B9FD-CCF9-D7E5F1168971}"/>
              </a:ext>
            </a:extLst>
          </p:cNvPr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1C0B3060-31E0-DBEF-C3B6-EE800A0BEEAA}"/>
              </a:ext>
            </a:extLst>
          </p:cNvPr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0D96CF01-5823-0E6F-B153-6325B342323A}"/>
              </a:ext>
            </a:extLst>
          </p:cNvPr>
          <p:cNvSpPr/>
          <p:nvPr/>
        </p:nvSpPr>
        <p:spPr>
          <a:xfrm>
            <a:off x="-118004" y="4818017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7B9EBD02-F4E0-BC38-9002-6EF335908597}"/>
              </a:ext>
            </a:extLst>
          </p:cNvPr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39CD51CF-CC2C-2A51-27DB-E98CF9B06B82}"/>
              </a:ext>
            </a:extLst>
          </p:cNvPr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AAF635AB-EEEC-A62A-F6D0-EA1769773294}"/>
              </a:ext>
            </a:extLst>
          </p:cNvPr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8202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Goal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E4E83256-7C2D-B859-BFE2-BE395456A804}"/>
              </a:ext>
            </a:extLst>
          </p:cNvPr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C5A6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Developing a high-accuracy, vision-only deep learning architecture for raw video classification.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C9936045-D4B2-F6AD-2778-020DA762CA5B}"/>
              </a:ext>
            </a:extLst>
          </p:cNvPr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8" name="Shape 68">
            <a:extLst>
              <a:ext uri="{FF2B5EF4-FFF2-40B4-BE49-F238E27FC236}">
                <a16:creationId xmlns:a16="http://schemas.microsoft.com/office/drawing/2014/main" id="{666F6918-3A83-9ABD-1D41-BE188B81EDD8}"/>
              </a:ext>
            </a:extLst>
          </p:cNvPr>
          <p:cNvSpPr/>
          <p:nvPr/>
        </p:nvSpPr>
        <p:spPr>
          <a:xfrm>
            <a:off x="4139593" y="1410735"/>
            <a:ext cx="3912814" cy="119827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5240">
            <a:solidFill>
              <a:srgbClr val="C23B83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2E3E5E7E-9453-917F-76D5-F3E4902D8B75}"/>
              </a:ext>
            </a:extLst>
          </p:cNvPr>
          <p:cNvSpPr/>
          <p:nvPr/>
        </p:nvSpPr>
        <p:spPr>
          <a:xfrm>
            <a:off x="9921240" y="484633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60" b="1" dirty="0">
                <a:solidFill>
                  <a:srgbClr val="FFFFFF"/>
                </a:solidFill>
                <a:latin typeface="Aptos"/>
              </a:rPr>
              <a:t>GOAL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06D73A82-899E-AF07-0CC4-D72ECDC363C9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94EE08C6-874F-1521-A821-2F493F7352BB}"/>
              </a:ext>
            </a:extLst>
          </p:cNvPr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7C8B9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8" name="Shape 68">
            <a:extLst>
              <a:ext uri="{FF2B5EF4-FFF2-40B4-BE49-F238E27FC236}">
                <a16:creationId xmlns:a16="http://schemas.microsoft.com/office/drawing/2014/main" id="{2DA3CB0F-C92D-55C2-A1D9-5B217A920F3F}"/>
              </a:ext>
            </a:extLst>
          </p:cNvPr>
          <p:cNvSpPr/>
          <p:nvPr/>
        </p:nvSpPr>
        <p:spPr>
          <a:xfrm>
            <a:off x="4139593" y="2927719"/>
            <a:ext cx="3912814" cy="119827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524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70328A80-86F7-A484-469F-C0CEF479C43E}"/>
              </a:ext>
            </a:extLst>
          </p:cNvPr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7395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3" name="תיבת טקסט 92">
            <a:extLst>
              <a:ext uri="{FF2B5EF4-FFF2-40B4-BE49-F238E27FC236}">
                <a16:creationId xmlns:a16="http://schemas.microsoft.com/office/drawing/2014/main" id="{C4EBFBD4-A2AC-BF07-1105-E433E531F636}"/>
              </a:ext>
            </a:extLst>
          </p:cNvPr>
          <p:cNvSpPr txBox="1"/>
          <p:nvPr/>
        </p:nvSpPr>
        <p:spPr>
          <a:xfrm>
            <a:off x="2577041" y="1739870"/>
            <a:ext cx="1296000" cy="540000"/>
          </a:xfrm>
          <a:prstGeom prst="flowChartAlternateProcess">
            <a:avLst/>
          </a:prstGeom>
          <a:solidFill>
            <a:srgbClr val="F1D3E3"/>
          </a:solidFill>
        </p:spPr>
        <p:txBody>
          <a:bodyPr wrap="square" rtlCol="1">
            <a:spAutoFit/>
          </a:bodyPr>
          <a:lstStyle/>
          <a:p>
            <a:pPr algn="ctr"/>
            <a:r>
              <a:rPr lang="en-US" sz="1200" b="1" dirty="0">
                <a:solidFill>
                  <a:srgbClr val="C23B83"/>
                </a:solidFill>
              </a:rPr>
              <a:t>Raw Video</a:t>
            </a:r>
          </a:p>
          <a:p>
            <a:pPr algn="ctr"/>
            <a:r>
              <a:rPr lang="en-US" sz="1200" b="1" dirty="0">
                <a:solidFill>
                  <a:srgbClr val="C23B83"/>
                </a:solidFill>
              </a:rPr>
              <a:t> Input</a:t>
            </a:r>
            <a:endParaRPr lang="he-IL" sz="1200" b="1" dirty="0">
              <a:solidFill>
                <a:srgbClr val="C23B83"/>
              </a:solidFill>
            </a:endParaRPr>
          </a:p>
        </p:txBody>
      </p:sp>
      <p:sp>
        <p:nvSpPr>
          <p:cNvPr id="95" name="תיבת טקסט 94">
            <a:extLst>
              <a:ext uri="{FF2B5EF4-FFF2-40B4-BE49-F238E27FC236}">
                <a16:creationId xmlns:a16="http://schemas.microsoft.com/office/drawing/2014/main" id="{B349B7BE-053D-444A-D80F-60A36F4BB931}"/>
              </a:ext>
            </a:extLst>
          </p:cNvPr>
          <p:cNvSpPr txBox="1"/>
          <p:nvPr/>
        </p:nvSpPr>
        <p:spPr>
          <a:xfrm>
            <a:off x="4975860" y="1572770"/>
            <a:ext cx="2240281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100" b="1" dirty="0"/>
              <a:t>Vision-Only Features</a:t>
            </a:r>
            <a:endParaRPr lang="he-IL" sz="1100" b="1" dirty="0"/>
          </a:p>
        </p:txBody>
      </p:sp>
      <p:sp>
        <p:nvSpPr>
          <p:cNvPr id="96" name="תיבת טקסט 95">
            <a:extLst>
              <a:ext uri="{FF2B5EF4-FFF2-40B4-BE49-F238E27FC236}">
                <a16:creationId xmlns:a16="http://schemas.microsoft.com/office/drawing/2014/main" id="{C46C9EA7-E167-A6D1-4866-564DEDE935A7}"/>
              </a:ext>
            </a:extLst>
          </p:cNvPr>
          <p:cNvSpPr txBox="1"/>
          <p:nvPr/>
        </p:nvSpPr>
        <p:spPr>
          <a:xfrm>
            <a:off x="4557195" y="1937657"/>
            <a:ext cx="307761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000" dirty="0"/>
              <a:t>100% reliance on spatial-temporal frame sequences. Zero audio dependency.</a:t>
            </a:r>
            <a:endParaRPr lang="he-IL" sz="1000" dirty="0"/>
          </a:p>
        </p:txBody>
      </p:sp>
      <p:sp>
        <p:nvSpPr>
          <p:cNvPr id="100" name="תיבת טקסט 99">
            <a:extLst>
              <a:ext uri="{FF2B5EF4-FFF2-40B4-BE49-F238E27FC236}">
                <a16:creationId xmlns:a16="http://schemas.microsoft.com/office/drawing/2014/main" id="{7E233D85-FF92-7EED-6629-20C3F0038135}"/>
              </a:ext>
            </a:extLst>
          </p:cNvPr>
          <p:cNvSpPr txBox="1"/>
          <p:nvPr/>
        </p:nvSpPr>
        <p:spPr>
          <a:xfrm>
            <a:off x="2577041" y="3256854"/>
            <a:ext cx="1296000" cy="540000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/>
            <a:r>
              <a:rPr lang="en-US" sz="1200" b="1" dirty="0">
                <a:solidFill>
                  <a:schemeClr val="accent4"/>
                </a:solidFill>
              </a:rPr>
              <a:t>Deep Learning</a:t>
            </a:r>
          </a:p>
          <a:p>
            <a:pPr algn="ctr"/>
            <a:r>
              <a:rPr lang="en-US" sz="1200" b="1" dirty="0">
                <a:solidFill>
                  <a:schemeClr val="accent4"/>
                </a:solidFill>
              </a:rPr>
              <a:t> Architecture</a:t>
            </a:r>
            <a:endParaRPr lang="he-IL" sz="1200" b="1" dirty="0">
              <a:solidFill>
                <a:schemeClr val="accent4"/>
              </a:solidFill>
            </a:endParaRPr>
          </a:p>
        </p:txBody>
      </p:sp>
      <p:sp>
        <p:nvSpPr>
          <p:cNvPr id="101" name="תיבת טקסט 100">
            <a:extLst>
              <a:ext uri="{FF2B5EF4-FFF2-40B4-BE49-F238E27FC236}">
                <a16:creationId xmlns:a16="http://schemas.microsoft.com/office/drawing/2014/main" id="{F313BFAB-A655-AF55-8F67-956E87CE150A}"/>
              </a:ext>
            </a:extLst>
          </p:cNvPr>
          <p:cNvSpPr txBox="1"/>
          <p:nvPr/>
        </p:nvSpPr>
        <p:spPr>
          <a:xfrm>
            <a:off x="4975860" y="3035152"/>
            <a:ext cx="2240281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100" b="1" dirty="0"/>
              <a:t>High-Accuracy Model</a:t>
            </a:r>
            <a:endParaRPr lang="he-IL" sz="1100" b="1" dirty="0"/>
          </a:p>
        </p:txBody>
      </p:sp>
      <p:sp>
        <p:nvSpPr>
          <p:cNvPr id="102" name="תיבת טקסט 101">
            <a:extLst>
              <a:ext uri="{FF2B5EF4-FFF2-40B4-BE49-F238E27FC236}">
                <a16:creationId xmlns:a16="http://schemas.microsoft.com/office/drawing/2014/main" id="{44AF52A3-1F3B-499E-4916-5E160909DE1E}"/>
              </a:ext>
            </a:extLst>
          </p:cNvPr>
          <p:cNvSpPr txBox="1"/>
          <p:nvPr/>
        </p:nvSpPr>
        <p:spPr>
          <a:xfrm>
            <a:off x="4505052" y="3354917"/>
            <a:ext cx="318189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000" dirty="0"/>
              <a:t>Processing raw video segments to extract complex behavioral patterns using advanced neural networks.</a:t>
            </a:r>
            <a:endParaRPr lang="he-IL" sz="1000" dirty="0"/>
          </a:p>
        </p:txBody>
      </p:sp>
      <p:sp>
        <p:nvSpPr>
          <p:cNvPr id="122" name="תיבת טקסט 121">
            <a:extLst>
              <a:ext uri="{FF2B5EF4-FFF2-40B4-BE49-F238E27FC236}">
                <a16:creationId xmlns:a16="http://schemas.microsoft.com/office/drawing/2014/main" id="{9751B0E5-15FB-6282-8EAB-8880245AD579}"/>
              </a:ext>
            </a:extLst>
          </p:cNvPr>
          <p:cNvSpPr txBox="1"/>
          <p:nvPr/>
        </p:nvSpPr>
        <p:spPr>
          <a:xfrm>
            <a:off x="2577041" y="4773837"/>
            <a:ext cx="1296000" cy="54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1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</a:rPr>
              <a:t>The Output</a:t>
            </a:r>
            <a:endParaRPr lang="he-IL" sz="1200" b="1" dirty="0">
              <a:solidFill>
                <a:srgbClr val="0070C0"/>
              </a:solidFill>
            </a:endParaRPr>
          </a:p>
        </p:txBody>
      </p:sp>
      <p:sp>
        <p:nvSpPr>
          <p:cNvPr id="130" name="Shape 68">
            <a:extLst>
              <a:ext uri="{FF2B5EF4-FFF2-40B4-BE49-F238E27FC236}">
                <a16:creationId xmlns:a16="http://schemas.microsoft.com/office/drawing/2014/main" id="{E3D8470E-117C-0441-F2C2-90D335AD71BC}"/>
              </a:ext>
            </a:extLst>
          </p:cNvPr>
          <p:cNvSpPr/>
          <p:nvPr/>
        </p:nvSpPr>
        <p:spPr>
          <a:xfrm>
            <a:off x="4139593" y="4444702"/>
            <a:ext cx="3912814" cy="119827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524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123" name="תיבת טקסט 122">
            <a:extLst>
              <a:ext uri="{FF2B5EF4-FFF2-40B4-BE49-F238E27FC236}">
                <a16:creationId xmlns:a16="http://schemas.microsoft.com/office/drawing/2014/main" id="{3500316D-790F-C8A8-E6A4-FA483C17F05E}"/>
              </a:ext>
            </a:extLst>
          </p:cNvPr>
          <p:cNvSpPr txBox="1"/>
          <p:nvPr/>
        </p:nvSpPr>
        <p:spPr>
          <a:xfrm>
            <a:off x="4975860" y="4534013"/>
            <a:ext cx="2240281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100" b="1" dirty="0"/>
              <a:t>Strict Binary Classification</a:t>
            </a:r>
            <a:endParaRPr lang="he-IL" sz="1100" b="1" dirty="0"/>
          </a:p>
        </p:txBody>
      </p:sp>
      <p:sp>
        <p:nvSpPr>
          <p:cNvPr id="124" name="תיבת טקסט 123">
            <a:extLst>
              <a:ext uri="{FF2B5EF4-FFF2-40B4-BE49-F238E27FC236}">
                <a16:creationId xmlns:a16="http://schemas.microsoft.com/office/drawing/2014/main" id="{0786EE7D-C118-9778-3FFD-070D82442E23}"/>
              </a:ext>
            </a:extLst>
          </p:cNvPr>
          <p:cNvSpPr txBox="1"/>
          <p:nvPr/>
        </p:nvSpPr>
        <p:spPr>
          <a:xfrm>
            <a:off x="4306607" y="4789215"/>
            <a:ext cx="3578787" cy="2462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000" dirty="0"/>
              <a:t>Classifying the video segment into one of two absolute states:</a:t>
            </a:r>
            <a:endParaRPr lang="he-IL" sz="1000" dirty="0"/>
          </a:p>
        </p:txBody>
      </p:sp>
      <p:sp>
        <p:nvSpPr>
          <p:cNvPr id="125" name="תיבת טקסט 124">
            <a:extLst>
              <a:ext uri="{FF2B5EF4-FFF2-40B4-BE49-F238E27FC236}">
                <a16:creationId xmlns:a16="http://schemas.microsoft.com/office/drawing/2014/main" id="{FA979EDC-8EAB-014D-AE97-30075243C7D5}"/>
              </a:ext>
            </a:extLst>
          </p:cNvPr>
          <p:cNvSpPr txBox="1"/>
          <p:nvPr/>
        </p:nvSpPr>
        <p:spPr>
          <a:xfrm>
            <a:off x="6217921" y="5277102"/>
            <a:ext cx="1095106" cy="272415"/>
          </a:xfrm>
          <a:prstGeom prst="flowChartAlternateProcess">
            <a:avLst/>
          </a:prstGeom>
          <a:solidFill>
            <a:srgbClr val="E34B4B"/>
          </a:solidFill>
          <a:ln>
            <a:solidFill>
              <a:srgbClr val="E34B4B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Violence</a:t>
            </a:r>
            <a:endParaRPr lang="he-IL" sz="1000" dirty="0">
              <a:solidFill>
                <a:schemeClr val="bg1"/>
              </a:solidFill>
            </a:endParaRPr>
          </a:p>
        </p:txBody>
      </p:sp>
      <p:sp>
        <p:nvSpPr>
          <p:cNvPr id="126" name="תיבת טקסט 125">
            <a:extLst>
              <a:ext uri="{FF2B5EF4-FFF2-40B4-BE49-F238E27FC236}">
                <a16:creationId xmlns:a16="http://schemas.microsoft.com/office/drawing/2014/main" id="{EC93C91D-C184-1A8C-FB92-CD67C3F09BCB}"/>
              </a:ext>
            </a:extLst>
          </p:cNvPr>
          <p:cNvSpPr txBox="1"/>
          <p:nvPr/>
        </p:nvSpPr>
        <p:spPr>
          <a:xfrm>
            <a:off x="4888993" y="5277102"/>
            <a:ext cx="1082040" cy="272415"/>
          </a:xfrm>
          <a:prstGeom prst="flowChartAlternateProcess">
            <a:avLst/>
          </a:prstGeom>
          <a:solidFill>
            <a:srgbClr val="15834F"/>
          </a:solidFill>
          <a:ln>
            <a:solidFill>
              <a:srgbClr val="15834F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Non-violence</a:t>
            </a:r>
            <a:endParaRPr lang="he-IL" sz="1000" dirty="0">
              <a:solidFill>
                <a:schemeClr val="bg1"/>
              </a:solidFill>
            </a:endParaRPr>
          </a:p>
        </p:txBody>
      </p:sp>
      <p:cxnSp>
        <p:nvCxnSpPr>
          <p:cNvPr id="134" name="מחבר חץ ישר 133">
            <a:extLst>
              <a:ext uri="{FF2B5EF4-FFF2-40B4-BE49-F238E27FC236}">
                <a16:creationId xmlns:a16="http://schemas.microsoft.com/office/drawing/2014/main" id="{E9F9BBD0-0FB8-9CF5-B581-D42EA3065933}"/>
              </a:ext>
            </a:extLst>
          </p:cNvPr>
          <p:cNvCxnSpPr>
            <a:stCxn id="68" idx="2"/>
            <a:endCxn id="98" idx="0"/>
          </p:cNvCxnSpPr>
          <p:nvPr/>
        </p:nvCxnSpPr>
        <p:spPr>
          <a:xfrm>
            <a:off x="6096000" y="2609005"/>
            <a:ext cx="0" cy="31871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מחבר חץ ישר 135">
            <a:extLst>
              <a:ext uri="{FF2B5EF4-FFF2-40B4-BE49-F238E27FC236}">
                <a16:creationId xmlns:a16="http://schemas.microsoft.com/office/drawing/2014/main" id="{8826E70B-166F-4B19-6AE4-683E11504918}"/>
              </a:ext>
            </a:extLst>
          </p:cNvPr>
          <p:cNvCxnSpPr>
            <a:stCxn id="98" idx="2"/>
            <a:endCxn id="130" idx="0"/>
          </p:cNvCxnSpPr>
          <p:nvPr/>
        </p:nvCxnSpPr>
        <p:spPr>
          <a:xfrm>
            <a:off x="6096000" y="4125989"/>
            <a:ext cx="0" cy="31871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מחבר חץ ישר 138">
            <a:extLst>
              <a:ext uri="{FF2B5EF4-FFF2-40B4-BE49-F238E27FC236}">
                <a16:creationId xmlns:a16="http://schemas.microsoft.com/office/drawing/2014/main" id="{E5BBE45A-D2DF-EFD5-9E74-309AF4DE88B0}"/>
              </a:ext>
            </a:extLst>
          </p:cNvPr>
          <p:cNvCxnSpPr>
            <a:cxnSpLocks/>
            <a:stCxn id="124" idx="2"/>
            <a:endCxn id="126" idx="0"/>
          </p:cNvCxnSpPr>
          <p:nvPr/>
        </p:nvCxnSpPr>
        <p:spPr>
          <a:xfrm flipH="1">
            <a:off x="5430013" y="5035436"/>
            <a:ext cx="665988" cy="24166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מחבר חץ ישר 142">
            <a:extLst>
              <a:ext uri="{FF2B5EF4-FFF2-40B4-BE49-F238E27FC236}">
                <a16:creationId xmlns:a16="http://schemas.microsoft.com/office/drawing/2014/main" id="{66AC747D-CF34-3E19-9484-8ACEB06E2185}"/>
              </a:ext>
            </a:extLst>
          </p:cNvPr>
          <p:cNvCxnSpPr>
            <a:cxnSpLocks/>
            <a:stCxn id="124" idx="2"/>
            <a:endCxn id="125" idx="0"/>
          </p:cNvCxnSpPr>
          <p:nvPr/>
        </p:nvCxnSpPr>
        <p:spPr>
          <a:xfrm>
            <a:off x="6096001" y="5035436"/>
            <a:ext cx="669473" cy="24166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Shape 56">
            <a:extLst>
              <a:ext uri="{FF2B5EF4-FFF2-40B4-BE49-F238E27FC236}">
                <a16:creationId xmlns:a16="http://schemas.microsoft.com/office/drawing/2014/main" id="{CF1558F6-5C39-B3C6-F3FC-4A0C1A1D81F7}"/>
              </a:ext>
            </a:extLst>
          </p:cNvPr>
          <p:cNvSpPr/>
          <p:nvPr/>
        </p:nvSpPr>
        <p:spPr>
          <a:xfrm>
            <a:off x="152400" y="6133011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196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Scope &amp; Boundaries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Defining the technical and operational limits of the current implementation.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SCOPE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731520" y="155448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8" name="Shape 66"/>
          <p:cNvSpPr/>
          <p:nvPr/>
        </p:nvSpPr>
        <p:spPr>
          <a:xfrm>
            <a:off x="960120" y="1783080"/>
            <a:ext cx="1143000" cy="292608"/>
          </a:xfrm>
          <a:prstGeom prst="roundRect">
            <a:avLst>
              <a:gd name="adj" fmla="val 1875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E7F6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>
              <a:noFill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069848" y="1864506"/>
            <a:ext cx="923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1"/>
                </a:solidFill>
              </a:rPr>
              <a:t>IN SCOPE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70" name="Text 68"/>
          <p:cNvSpPr/>
          <p:nvPr/>
        </p:nvSpPr>
        <p:spPr>
          <a:xfrm>
            <a:off x="960120" y="2240280"/>
            <a:ext cx="4892040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1450" indent="-171450">
              <a:lnSpc>
                <a:spcPct val="150000"/>
              </a:lnSpc>
              <a:buClr>
                <a:srgbClr val="15834F"/>
              </a:buClr>
              <a:buFont typeface="Courier New" panose="02070309020205020404" pitchFamily="49" charset="0"/>
              <a:buChar char="o"/>
            </a:pPr>
            <a:r>
              <a:rPr lang="en-US" sz="1120" b="1" dirty="0">
                <a:solidFill>
                  <a:srgbClr val="18202A"/>
                </a:solidFill>
              </a:rPr>
              <a:t>Short Video Analysis: </a:t>
            </a:r>
            <a:r>
              <a:rPr lang="en-US" sz="1120" dirty="0">
                <a:solidFill>
                  <a:srgbClr val="18202A"/>
                </a:solidFill>
              </a:rPr>
              <a:t>Processing and analyzing pre-recorded, short-duration video segments.</a:t>
            </a:r>
          </a:p>
          <a:p>
            <a:pPr marL="171450" indent="-171450">
              <a:lnSpc>
                <a:spcPct val="150000"/>
              </a:lnSpc>
              <a:buClr>
                <a:srgbClr val="15834F"/>
              </a:buClr>
              <a:buFont typeface="Courier New" panose="02070309020205020404" pitchFamily="49" charset="0"/>
              <a:buChar char="o"/>
            </a:pPr>
            <a:r>
              <a:rPr lang="en-US" sz="1120" b="1" dirty="0">
                <a:solidFill>
                  <a:srgbClr val="18202A"/>
                </a:solidFill>
              </a:rPr>
              <a:t>Strict Binary Classification: </a:t>
            </a:r>
            <a:r>
              <a:rPr lang="en-US" sz="1120" dirty="0">
                <a:solidFill>
                  <a:srgbClr val="18202A"/>
                </a:solidFill>
              </a:rPr>
              <a:t>Categorizing footage exclusively as "Violence" or “Non-violence".</a:t>
            </a:r>
          </a:p>
          <a:p>
            <a:pPr marL="171450" indent="-171450">
              <a:lnSpc>
                <a:spcPct val="150000"/>
              </a:lnSpc>
              <a:buClr>
                <a:srgbClr val="15834F"/>
              </a:buClr>
              <a:buFont typeface="Courier New" panose="02070309020205020404" pitchFamily="49" charset="0"/>
              <a:buChar char="o"/>
            </a:pPr>
            <a:r>
              <a:rPr lang="en-US" sz="1120" b="1" dirty="0">
                <a:solidFill>
                  <a:srgbClr val="18202A"/>
                </a:solidFill>
              </a:rPr>
              <a:t>Advanced Architecture: </a:t>
            </a:r>
            <a:r>
              <a:rPr lang="en-US" sz="1120" dirty="0">
                <a:solidFill>
                  <a:srgbClr val="18202A"/>
                </a:solidFill>
              </a:rPr>
              <a:t>Evaluating and implementing Vision Transformer models (</a:t>
            </a:r>
            <a:r>
              <a:rPr lang="en-US" sz="1120" dirty="0" err="1">
                <a:solidFill>
                  <a:srgbClr val="18202A"/>
                </a:solidFill>
              </a:rPr>
              <a:t>MViT</a:t>
            </a:r>
            <a:r>
              <a:rPr lang="en-US" sz="1120" dirty="0">
                <a:solidFill>
                  <a:srgbClr val="18202A"/>
                </a:solidFill>
              </a:rPr>
              <a:t> v2).</a:t>
            </a:r>
          </a:p>
          <a:p>
            <a:pPr marL="171450" indent="-171450">
              <a:lnSpc>
                <a:spcPct val="150000"/>
              </a:lnSpc>
              <a:buClr>
                <a:srgbClr val="15834F"/>
              </a:buClr>
              <a:buFont typeface="Courier New" panose="02070309020205020404" pitchFamily="49" charset="0"/>
              <a:buChar char="o"/>
            </a:pPr>
            <a:r>
              <a:rPr lang="en-US" sz="1120" b="1" dirty="0">
                <a:solidFill>
                  <a:srgbClr val="18202A"/>
                </a:solidFill>
              </a:rPr>
              <a:t>Offline Datasets: </a:t>
            </a:r>
            <a:r>
              <a:rPr lang="en-US" sz="1120" dirty="0">
                <a:solidFill>
                  <a:srgbClr val="18202A"/>
                </a:solidFill>
              </a:rPr>
              <a:t>Training and validating the model using established, pre-collected video databases.</a:t>
            </a:r>
          </a:p>
        </p:txBody>
      </p:sp>
      <p:sp>
        <p:nvSpPr>
          <p:cNvPr id="71" name="Shape 69"/>
          <p:cNvSpPr/>
          <p:nvPr/>
        </p:nvSpPr>
        <p:spPr>
          <a:xfrm>
            <a:off x="6263640" y="15544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2" name="Shape 70"/>
          <p:cNvSpPr/>
          <p:nvPr/>
        </p:nvSpPr>
        <p:spPr>
          <a:xfrm>
            <a:off x="6492240" y="1783080"/>
            <a:ext cx="1371600" cy="292608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rgbClr val="FBEA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3" name="Text 71"/>
          <p:cNvSpPr/>
          <p:nvPr/>
        </p:nvSpPr>
        <p:spPr>
          <a:xfrm>
            <a:off x="6601968" y="1864506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OUT OF SCOPE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492240" y="2240280"/>
            <a:ext cx="4709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1450" indent="-171450">
              <a:lnSpc>
                <a:spcPct val="150000"/>
              </a:lnSpc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20" b="1" dirty="0">
                <a:solidFill>
                  <a:srgbClr val="18202A"/>
                </a:solidFill>
              </a:rPr>
              <a:t>Real-Time Live Streaming: </a:t>
            </a:r>
            <a:r>
              <a:rPr lang="en-US" sz="1120" dirty="0">
                <a:solidFill>
                  <a:srgbClr val="18202A"/>
                </a:solidFill>
              </a:rPr>
              <a:t>Direct integration with live edge-camera feeds or CCTV systems.</a:t>
            </a:r>
          </a:p>
          <a:p>
            <a:pPr marL="171450" indent="-171450">
              <a:lnSpc>
                <a:spcPct val="150000"/>
              </a:lnSpc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20" b="1" dirty="0">
                <a:solidFill>
                  <a:srgbClr val="18202A"/>
                </a:solidFill>
              </a:rPr>
              <a:t>Granular Categorization: </a:t>
            </a:r>
            <a:r>
              <a:rPr lang="en-US" sz="1120" dirty="0">
                <a:solidFill>
                  <a:srgbClr val="18202A"/>
                </a:solidFill>
              </a:rPr>
              <a:t>Identifying specific types of violence (e.g., weapons, robbery, riots).</a:t>
            </a:r>
          </a:p>
          <a:p>
            <a:pPr marL="171450" indent="-171450">
              <a:lnSpc>
                <a:spcPct val="150000"/>
              </a:lnSpc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20" b="1" dirty="0">
                <a:solidFill>
                  <a:srgbClr val="18202A"/>
                </a:solidFill>
              </a:rPr>
              <a:t>Full End-User Application: </a:t>
            </a:r>
            <a:r>
              <a:rPr lang="en-US" sz="1120" dirty="0">
                <a:solidFill>
                  <a:srgbClr val="18202A"/>
                </a:solidFill>
              </a:rPr>
              <a:t>Developing a complete Graphical User Interface (GUI) or client-facing dashboard.</a:t>
            </a:r>
          </a:p>
        </p:txBody>
      </p:sp>
      <p:sp>
        <p:nvSpPr>
          <p:cNvPr id="75" name="Shape 7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6" name="Text 74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AI-Assisted Security Workflow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The model prioritizes suspicious clips; humans remain in the decision loop.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SYSTEM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628335" y="2057400"/>
            <a:ext cx="2232000" cy="25146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1" name="Text 69"/>
          <p:cNvSpPr/>
          <p:nvPr/>
        </p:nvSpPr>
        <p:spPr>
          <a:xfrm>
            <a:off x="1016509" y="2304290"/>
            <a:ext cx="1490473" cy="33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17395C"/>
                </a:solidFill>
              </a:rPr>
              <a:t>1.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8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Camera Input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1170432" y="22037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081395" y="2624328"/>
            <a:ext cx="1325880" cy="139903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Short video segments are collected from surveillance footage.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466890" y="2057400"/>
            <a:ext cx="2232000" cy="25146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C23B8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5" name="Text 73"/>
          <p:cNvSpPr/>
          <p:nvPr/>
        </p:nvSpPr>
        <p:spPr>
          <a:xfrm>
            <a:off x="3851370" y="2304290"/>
            <a:ext cx="1463041" cy="33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3B83"/>
                </a:solidFill>
              </a:rPr>
              <a:t>2.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8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Preprocessing</a:t>
            </a:r>
            <a:r>
              <a:rPr lang="en-US" sz="1400" b="1" dirty="0">
                <a:solidFill>
                  <a:srgbClr val="C23B83"/>
                </a:solidFill>
              </a:rPr>
              <a:t> 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187952" y="22037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3919950" y="2624328"/>
            <a:ext cx="1325880" cy="13075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Clips are sliced, sampled, resized, and normalized for model input.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305445" y="2057400"/>
            <a:ext cx="2232000" cy="25146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15834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9" name="Text 77"/>
          <p:cNvSpPr/>
          <p:nvPr/>
        </p:nvSpPr>
        <p:spPr>
          <a:xfrm>
            <a:off x="6539049" y="2290572"/>
            <a:ext cx="17647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5834F"/>
                </a:solidFill>
              </a:rPr>
              <a:t>3. </a:t>
            </a:r>
            <a:r>
              <a:rPr lang="en-US" sz="1400" b="1" dirty="0">
                <a:solidFill>
                  <a:srgbClr val="18202A"/>
                </a:solidFill>
              </a:rPr>
              <a:t>AI Analysis Engine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839713" y="2203704"/>
            <a:ext cx="1280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758505" y="2624328"/>
            <a:ext cx="1325880" cy="13075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Feature extraction and violence detection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9144000" y="2057400"/>
            <a:ext cx="2232000" cy="251460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5240">
            <a:solidFill>
              <a:srgbClr val="F3A21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3" name="Text 81"/>
          <p:cNvSpPr/>
          <p:nvPr/>
        </p:nvSpPr>
        <p:spPr>
          <a:xfrm>
            <a:off x="9313596" y="2304290"/>
            <a:ext cx="1892809" cy="33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3A21B"/>
                </a:solidFill>
              </a:rPr>
              <a:t>4. </a:t>
            </a:r>
            <a:r>
              <a:rPr lang="en-US" sz="1400" b="1" dirty="0">
                <a:solidFill>
                  <a:srgbClr val="18202A"/>
                </a:solidFill>
              </a:rPr>
              <a:t>Human Review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9674352" y="22037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9345600" y="2624328"/>
            <a:ext cx="1828800" cy="144475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Security staff reviews prioritized alerts and makes the operational decision.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8" name="Text 86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06</a:t>
            </a:r>
            <a:endParaRPr lang="en-US" sz="900" dirty="0"/>
          </a:p>
        </p:txBody>
      </p:sp>
      <p:cxnSp>
        <p:nvCxnSpPr>
          <p:cNvPr id="91" name="מחבר חץ ישר 90">
            <a:extLst>
              <a:ext uri="{FF2B5EF4-FFF2-40B4-BE49-F238E27FC236}">
                <a16:creationId xmlns:a16="http://schemas.microsoft.com/office/drawing/2014/main" id="{28C7A6CB-94BD-D140-6F9E-5D829A67D7F8}"/>
              </a:ext>
            </a:extLst>
          </p:cNvPr>
          <p:cNvCxnSpPr>
            <a:stCxn id="70" idx="3"/>
            <a:endCxn id="74" idx="1"/>
          </p:cNvCxnSpPr>
          <p:nvPr/>
        </p:nvCxnSpPr>
        <p:spPr>
          <a:xfrm>
            <a:off x="2860335" y="3314700"/>
            <a:ext cx="6065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מחבר חץ ישר 92">
            <a:extLst>
              <a:ext uri="{FF2B5EF4-FFF2-40B4-BE49-F238E27FC236}">
                <a16:creationId xmlns:a16="http://schemas.microsoft.com/office/drawing/2014/main" id="{7C9FA166-0B9C-4554-0835-35A88A0E2EFD}"/>
              </a:ext>
            </a:extLst>
          </p:cNvPr>
          <p:cNvCxnSpPr>
            <a:stCxn id="74" idx="3"/>
            <a:endCxn id="78" idx="1"/>
          </p:cNvCxnSpPr>
          <p:nvPr/>
        </p:nvCxnSpPr>
        <p:spPr>
          <a:xfrm>
            <a:off x="5698890" y="3314700"/>
            <a:ext cx="6065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מחבר חץ ישר 94">
            <a:extLst>
              <a:ext uri="{FF2B5EF4-FFF2-40B4-BE49-F238E27FC236}">
                <a16:creationId xmlns:a16="http://schemas.microsoft.com/office/drawing/2014/main" id="{925481C5-B045-3BD6-C4E2-1ED8582EF6B0}"/>
              </a:ext>
            </a:extLst>
          </p:cNvPr>
          <p:cNvCxnSpPr>
            <a:stCxn id="78" idx="3"/>
            <a:endCxn id="82" idx="1"/>
          </p:cNvCxnSpPr>
          <p:nvPr/>
        </p:nvCxnSpPr>
        <p:spPr>
          <a:xfrm>
            <a:off x="8537445" y="3314700"/>
            <a:ext cx="6065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9029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 &amp; Distribution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A robust, perfectly balanced video dataset for unbiased violence detection.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DATA</a:t>
            </a:r>
            <a:endParaRPr lang="en-US" sz="760" dirty="0"/>
          </a:p>
        </p:txBody>
      </p:sp>
      <p:sp>
        <p:nvSpPr>
          <p:cNvPr id="72" name="Shape 70"/>
          <p:cNvSpPr/>
          <p:nvPr/>
        </p:nvSpPr>
        <p:spPr>
          <a:xfrm>
            <a:off x="1310640" y="4023360"/>
            <a:ext cx="9601200" cy="2011679"/>
          </a:xfrm>
          <a:prstGeom prst="roundRect">
            <a:avLst>
              <a:gd name="adj" fmla="val 1616"/>
            </a:avLst>
          </a:prstGeom>
          <a:solidFill>
            <a:srgbClr val="FFF4D8"/>
          </a:solidFill>
          <a:ln w="10160">
            <a:solidFill>
              <a:srgbClr val="F3A21B"/>
            </a:solidFill>
            <a:prstDash val="solid"/>
          </a:ln>
        </p:spPr>
        <p:txBody>
          <a:bodyPr/>
          <a:lstStyle/>
          <a:p>
            <a:endParaRPr lang="he-IL">
              <a:solidFill>
                <a:prstClr val="black"/>
              </a:solidFill>
              <a:latin typeface="Aptos"/>
              <a:cs typeface="Arial" panose="020B0604020202020204" pitchFamily="34" charset="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8" name="Text 86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07</a:t>
            </a:r>
            <a:endParaRPr lang="en-US" sz="900" dirty="0"/>
          </a:p>
        </p:txBody>
      </p:sp>
      <p:sp>
        <p:nvSpPr>
          <p:cNvPr id="93" name="תיבת טקסט 92">
            <a:extLst>
              <a:ext uri="{FF2B5EF4-FFF2-40B4-BE49-F238E27FC236}">
                <a16:creationId xmlns:a16="http://schemas.microsoft.com/office/drawing/2014/main" id="{BF7BBA94-877D-B867-F5C0-2098EF2B09A1}"/>
              </a:ext>
            </a:extLst>
          </p:cNvPr>
          <p:cNvSpPr txBox="1"/>
          <p:nvPr/>
        </p:nvSpPr>
        <p:spPr>
          <a:xfrm>
            <a:off x="1455420" y="4279393"/>
            <a:ext cx="9281161" cy="1340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050" b="1" dirty="0"/>
              <a:t>Massive Scale: </a:t>
            </a:r>
            <a:r>
              <a:rPr lang="en-US" sz="1050" dirty="0"/>
              <a:t>Training and evaluating the model on a comprehensive dataset of over 4,700 short video clips.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050" b="1" dirty="0"/>
              <a:t>Perfectly Balanced: </a:t>
            </a:r>
            <a:r>
              <a:rPr lang="en-US" sz="1050" dirty="0"/>
              <a:t>Exactly 50/50 split between "Violence" and "Routine" classes, eliminating model bias.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050" b="1" dirty="0"/>
              <a:t>Diverse Environments: </a:t>
            </a:r>
            <a:r>
              <a:rPr lang="en-US" sz="1050" dirty="0"/>
              <a:t>Footage includes indoor/outdoor scenes, day/night settings, and varying lighting conditions to maximize real-world robustness.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050" b="1" dirty="0"/>
              <a:t>Dynamic Split: </a:t>
            </a:r>
            <a:r>
              <a:rPr lang="en-US" sz="1050" dirty="0"/>
              <a:t>Data is programmatically divided into Training (80%), Validation (10%), and Testing (10%) sets.</a:t>
            </a:r>
            <a:endParaRPr lang="he-IL" sz="1050" dirty="0"/>
          </a:p>
        </p:txBody>
      </p:sp>
      <p:sp>
        <p:nvSpPr>
          <p:cNvPr id="84" name="Shape 82"/>
          <p:cNvSpPr/>
          <p:nvPr/>
        </p:nvSpPr>
        <p:spPr>
          <a:xfrm>
            <a:off x="4011774" y="1508759"/>
            <a:ext cx="3553742" cy="2107929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F3A21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3" name="Text 71"/>
          <p:cNvSpPr/>
          <p:nvPr/>
        </p:nvSpPr>
        <p:spPr>
          <a:xfrm>
            <a:off x="4874245" y="1618487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/>
              <a:t>4,700</a:t>
            </a:r>
            <a:endParaRPr lang="en-US" sz="3400" dirty="0"/>
          </a:p>
        </p:txBody>
      </p:sp>
      <p:sp>
        <p:nvSpPr>
          <p:cNvPr id="74" name="Text 72"/>
          <p:cNvSpPr/>
          <p:nvPr/>
        </p:nvSpPr>
        <p:spPr>
          <a:xfrm>
            <a:off x="4599925" y="21717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C5A66"/>
                </a:solidFill>
              </a:rPr>
              <a:t>Filtered labeled clips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248237" y="2789156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50/50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86" name="Text 84"/>
          <p:cNvSpPr/>
          <p:nvPr/>
        </p:nvSpPr>
        <p:spPr>
          <a:xfrm>
            <a:off x="6323569" y="3082619"/>
            <a:ext cx="996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C5A66"/>
                </a:solidFill>
              </a:rPr>
              <a:t>Balanced labels</a:t>
            </a:r>
            <a:endParaRPr lang="en-US" sz="950" dirty="0"/>
          </a:p>
        </p:txBody>
      </p:sp>
      <p:graphicFrame>
        <p:nvGraphicFramePr>
          <p:cNvPr id="104" name="תרשים 103">
            <a:extLst>
              <a:ext uri="{FF2B5EF4-FFF2-40B4-BE49-F238E27FC236}">
                <a16:creationId xmlns:a16="http://schemas.microsoft.com/office/drawing/2014/main" id="{13A1487E-D8E9-CEA9-D65B-93399F04F4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8173162"/>
              </p:ext>
            </p:extLst>
          </p:nvPr>
        </p:nvGraphicFramePr>
        <p:xfrm>
          <a:off x="4274222" y="2514563"/>
          <a:ext cx="1482147" cy="957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" name="תיבת טקסט 107">
            <a:extLst>
              <a:ext uri="{FF2B5EF4-FFF2-40B4-BE49-F238E27FC236}">
                <a16:creationId xmlns:a16="http://schemas.microsoft.com/office/drawing/2014/main" id="{624DC9CB-0115-FC76-02F4-66F542210644}"/>
              </a:ext>
            </a:extLst>
          </p:cNvPr>
          <p:cNvSpPr txBox="1"/>
          <p:nvPr/>
        </p:nvSpPr>
        <p:spPr>
          <a:xfrm>
            <a:off x="5066269" y="3250131"/>
            <a:ext cx="11710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E34B4B"/>
                </a:solidFill>
              </a:rPr>
              <a:t>Violence</a:t>
            </a:r>
            <a:endParaRPr lang="he-IL" sz="800" dirty="0">
              <a:solidFill>
                <a:srgbClr val="E34B4B"/>
              </a:solidFill>
            </a:endParaRPr>
          </a:p>
        </p:txBody>
      </p:sp>
      <p:sp>
        <p:nvSpPr>
          <p:cNvPr id="112" name="תיבת טקסט 111">
            <a:extLst>
              <a:ext uri="{FF2B5EF4-FFF2-40B4-BE49-F238E27FC236}">
                <a16:creationId xmlns:a16="http://schemas.microsoft.com/office/drawing/2014/main" id="{9DF8E99C-8CC3-1F9B-114D-19909E7B9CA0}"/>
              </a:ext>
            </a:extLst>
          </p:cNvPr>
          <p:cNvSpPr txBox="1"/>
          <p:nvPr/>
        </p:nvSpPr>
        <p:spPr>
          <a:xfrm>
            <a:off x="3552284" y="2524476"/>
            <a:ext cx="16589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15834F"/>
                </a:solidFill>
              </a:rPr>
              <a:t>Non-violence</a:t>
            </a:r>
            <a:endParaRPr lang="he-IL" sz="800" dirty="0">
              <a:solidFill>
                <a:srgbClr val="15834F"/>
              </a:solidFill>
            </a:endParaRPr>
          </a:p>
        </p:txBody>
      </p:sp>
      <p:cxnSp>
        <p:nvCxnSpPr>
          <p:cNvPr id="118" name="מחבר: מעוקל 117">
            <a:extLst>
              <a:ext uri="{FF2B5EF4-FFF2-40B4-BE49-F238E27FC236}">
                <a16:creationId xmlns:a16="http://schemas.microsoft.com/office/drawing/2014/main" id="{4A6A371C-4481-5658-537F-14B4C5250599}"/>
              </a:ext>
            </a:extLst>
          </p:cNvPr>
          <p:cNvCxnSpPr>
            <a:endCxn id="108" idx="0"/>
          </p:cNvCxnSpPr>
          <p:nvPr/>
        </p:nvCxnSpPr>
        <p:spPr>
          <a:xfrm>
            <a:off x="5342878" y="2981180"/>
            <a:ext cx="308930" cy="268951"/>
          </a:xfrm>
          <a:prstGeom prst="curved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מחבר: מעוקל 119">
            <a:extLst>
              <a:ext uri="{FF2B5EF4-FFF2-40B4-BE49-F238E27FC236}">
                <a16:creationId xmlns:a16="http://schemas.microsoft.com/office/drawing/2014/main" id="{9D542A0D-3C94-00FE-AB43-E2CBF9FD6C72}"/>
              </a:ext>
            </a:extLst>
          </p:cNvPr>
          <p:cNvCxnSpPr>
            <a:endCxn id="112" idx="2"/>
          </p:cNvCxnSpPr>
          <p:nvPr/>
        </p:nvCxnSpPr>
        <p:spPr>
          <a:xfrm rot="10800000">
            <a:off x="4381777" y="2739921"/>
            <a:ext cx="307959" cy="253271"/>
          </a:xfrm>
          <a:prstGeom prst="curved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-27432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Labeling Criteria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Establishing strict visual parameters to prevent data noise and preserve model accuracy.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DATA</a:t>
            </a:r>
            <a:endParaRPr lang="en-US" sz="760" dirty="0"/>
          </a:p>
        </p:txBody>
      </p:sp>
      <p:sp>
        <p:nvSpPr>
          <p:cNvPr id="69" name="Shape 67"/>
          <p:cNvSpPr/>
          <p:nvPr/>
        </p:nvSpPr>
        <p:spPr>
          <a:xfrm>
            <a:off x="1005840" y="2240280"/>
            <a:ext cx="48006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E34B4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0" name="Text 68"/>
          <p:cNvSpPr/>
          <p:nvPr/>
        </p:nvSpPr>
        <p:spPr>
          <a:xfrm>
            <a:off x="1325880" y="2567178"/>
            <a:ext cx="1477838" cy="256032"/>
          </a:xfrm>
          <a:prstGeom prst="flowChartAlternateProcess">
            <a:avLst/>
          </a:prstGeom>
          <a:solidFill>
            <a:srgbClr val="F5BDBD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Targeted Aggression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312164" y="3086100"/>
            <a:ext cx="406908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E34B4B"/>
                </a:solidFill>
              </a:rPr>
              <a:t>Hand-to-Hand Combat</a:t>
            </a:r>
            <a:r>
              <a:rPr lang="en-US" sz="1200" dirty="0">
                <a:solidFill>
                  <a:srgbClr val="E34B4B"/>
                </a:solidFill>
              </a:rPr>
              <a:t>: </a:t>
            </a:r>
            <a:r>
              <a:rPr lang="en-US" sz="1200" dirty="0">
                <a:solidFill>
                  <a:srgbClr val="18202A"/>
                </a:solidFill>
              </a:rPr>
              <a:t>Punching, forceful pushing, kicking, and extended physical struggles.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C00000"/>
                </a:solidFill>
              </a:rPr>
              <a:t>Active</a:t>
            </a:r>
            <a:r>
              <a:rPr lang="en-US" sz="1200" dirty="0">
                <a:solidFill>
                  <a:srgbClr val="C00000"/>
                </a:solidFill>
              </a:rPr>
              <a:t> </a:t>
            </a:r>
            <a:r>
              <a:rPr lang="en-US" sz="1200" b="1" dirty="0">
                <a:solidFill>
                  <a:srgbClr val="C00000"/>
                </a:solidFill>
              </a:rPr>
              <a:t>Weapon Use</a:t>
            </a:r>
            <a:r>
              <a:rPr lang="en-US" sz="1200" dirty="0">
                <a:solidFill>
                  <a:srgbClr val="C00000"/>
                </a:solidFill>
              </a:rPr>
              <a:t>: </a:t>
            </a:r>
            <a:r>
              <a:rPr lang="en-US" sz="1200" dirty="0">
                <a:solidFill>
                  <a:srgbClr val="18202A"/>
                </a:solidFill>
              </a:rPr>
              <a:t>Actively discharging a firearm or directly aiming a weapon at an individual.</a:t>
            </a:r>
          </a:p>
        </p:txBody>
      </p:sp>
      <p:sp>
        <p:nvSpPr>
          <p:cNvPr id="72" name="Shape 70"/>
          <p:cNvSpPr/>
          <p:nvPr/>
        </p:nvSpPr>
        <p:spPr>
          <a:xfrm>
            <a:off x="6355080" y="2240280"/>
            <a:ext cx="4800600" cy="3520440"/>
          </a:xfrm>
          <a:prstGeom prst="roundRect">
            <a:avLst>
              <a:gd name="adj" fmla="val 2078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he-IL"/>
          </a:p>
        </p:txBody>
      </p:sp>
      <p:sp>
        <p:nvSpPr>
          <p:cNvPr id="73" name="Text 71"/>
          <p:cNvSpPr/>
          <p:nvPr/>
        </p:nvSpPr>
        <p:spPr>
          <a:xfrm>
            <a:off x="6675120" y="2567178"/>
            <a:ext cx="2216330" cy="256032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lang="en-US" sz="1200" b="1" dirty="0"/>
              <a:t>Excluded to Preserve Accuracy</a:t>
            </a:r>
          </a:p>
        </p:txBody>
      </p:sp>
      <p:sp>
        <p:nvSpPr>
          <p:cNvPr id="74" name="Text 72"/>
          <p:cNvSpPr/>
          <p:nvPr/>
        </p:nvSpPr>
        <p:spPr>
          <a:xfrm>
            <a:off x="6530341" y="3153375"/>
            <a:ext cx="451104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1450" indent="-171450">
              <a:lnSpc>
                <a:spcPct val="150000"/>
              </a:lnSpc>
              <a:buClr>
                <a:srgbClr val="15834F"/>
              </a:buClr>
              <a:buFont typeface="Aptos" panose="020B0004020202020204" pitchFamily="34" charset="0"/>
              <a:buChar char="×"/>
            </a:pPr>
            <a:r>
              <a:rPr lang="en-US" sz="1200" b="1" dirty="0">
                <a:solidFill>
                  <a:srgbClr val="18202A"/>
                </a:solidFill>
              </a:rPr>
              <a:t>Severe verbal arguments </a:t>
            </a:r>
            <a:r>
              <a:rPr lang="en-US" sz="1200" dirty="0">
                <a:solidFill>
                  <a:srgbClr val="18202A"/>
                </a:solidFill>
              </a:rPr>
              <a:t>(undetectable without audio).</a:t>
            </a:r>
          </a:p>
          <a:p>
            <a:pPr marL="171450" indent="-171450">
              <a:lnSpc>
                <a:spcPct val="150000"/>
              </a:lnSpc>
              <a:buClr>
                <a:srgbClr val="15834F"/>
              </a:buClr>
              <a:buFont typeface="Aptos" panose="020B0004020202020204" pitchFamily="34" charset="0"/>
              <a:buChar char="×"/>
            </a:pPr>
            <a:r>
              <a:rPr lang="en-US" sz="1200" b="1" dirty="0">
                <a:solidFill>
                  <a:srgbClr val="18202A"/>
                </a:solidFill>
              </a:rPr>
              <a:t>Sharp gestures without contact</a:t>
            </a:r>
            <a:r>
              <a:rPr lang="en-US" sz="1200" dirty="0">
                <a:solidFill>
                  <a:srgbClr val="18202A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Clr>
                <a:srgbClr val="15834F"/>
              </a:buClr>
              <a:buFont typeface="Aptos" panose="020B0004020202020204" pitchFamily="34" charset="0"/>
              <a:buChar char="×"/>
            </a:pPr>
            <a:r>
              <a:rPr lang="en-US" sz="1200" b="1" dirty="0">
                <a:solidFill>
                  <a:srgbClr val="18202A"/>
                </a:solidFill>
              </a:rPr>
              <a:t>Ambiguous situations without physical action</a:t>
            </a:r>
            <a:r>
              <a:rPr lang="en-US" sz="1200" dirty="0">
                <a:solidFill>
                  <a:srgbClr val="18202A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Clr>
                <a:srgbClr val="15834F"/>
              </a:buClr>
              <a:buFont typeface="Aptos" panose="020B0004020202020204" pitchFamily="34" charset="0"/>
              <a:buChar char="×"/>
            </a:pPr>
            <a:r>
              <a:rPr lang="en-US" sz="1200" b="1" dirty="0">
                <a:solidFill>
                  <a:srgbClr val="18202A"/>
                </a:solidFill>
              </a:rPr>
              <a:t>Passive weapon carriage</a:t>
            </a:r>
            <a:r>
              <a:rPr lang="en-US" sz="1200" dirty="0">
                <a:solidFill>
                  <a:srgbClr val="18202A"/>
                </a:solidFill>
              </a:rPr>
              <a:t>: Armed personnel routinely holding weapons without aiming.</a:t>
            </a:r>
          </a:p>
        </p:txBody>
      </p:sp>
      <p:sp>
        <p:nvSpPr>
          <p:cNvPr id="75" name="Shape 7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6" name="Text 74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08</a:t>
            </a:r>
            <a:endParaRPr lang="en-US" sz="900" dirty="0"/>
          </a:p>
        </p:txBody>
      </p:sp>
      <p:graphicFrame>
        <p:nvGraphicFramePr>
          <p:cNvPr id="86" name="תרשים 85">
            <a:extLst>
              <a:ext uri="{FF2B5EF4-FFF2-40B4-BE49-F238E27FC236}">
                <a16:creationId xmlns:a16="http://schemas.microsoft.com/office/drawing/2014/main" id="{CC8B55A0-1851-4B18-0580-C73DDC0B1B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2175554"/>
              </p:ext>
            </p:extLst>
          </p:nvPr>
        </p:nvGraphicFramePr>
        <p:xfrm>
          <a:off x="3940198" y="2358877"/>
          <a:ext cx="1482147" cy="957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7" name="תיבת טקסט 86">
            <a:extLst>
              <a:ext uri="{FF2B5EF4-FFF2-40B4-BE49-F238E27FC236}">
                <a16:creationId xmlns:a16="http://schemas.microsoft.com/office/drawing/2014/main" id="{DD3AC215-C9E5-35C6-D8CE-863973F610CE}"/>
              </a:ext>
            </a:extLst>
          </p:cNvPr>
          <p:cNvSpPr txBox="1"/>
          <p:nvPr/>
        </p:nvSpPr>
        <p:spPr>
          <a:xfrm>
            <a:off x="4732245" y="3094445"/>
            <a:ext cx="11710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E34B4B"/>
                </a:solidFill>
              </a:rPr>
              <a:t>Violence</a:t>
            </a:r>
            <a:endParaRPr lang="he-IL" sz="800" dirty="0">
              <a:solidFill>
                <a:srgbClr val="E34B4B"/>
              </a:solidFill>
            </a:endParaRPr>
          </a:p>
        </p:txBody>
      </p:sp>
      <p:sp>
        <p:nvSpPr>
          <p:cNvPr id="88" name="תיבת טקסט 87">
            <a:extLst>
              <a:ext uri="{FF2B5EF4-FFF2-40B4-BE49-F238E27FC236}">
                <a16:creationId xmlns:a16="http://schemas.microsoft.com/office/drawing/2014/main" id="{B796A908-CBF8-9AE0-4C64-A82CBF4AFBD8}"/>
              </a:ext>
            </a:extLst>
          </p:cNvPr>
          <p:cNvSpPr txBox="1"/>
          <p:nvPr/>
        </p:nvSpPr>
        <p:spPr>
          <a:xfrm>
            <a:off x="3218260" y="2368790"/>
            <a:ext cx="16589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15834F"/>
                </a:solidFill>
              </a:rPr>
              <a:t>Non-violence</a:t>
            </a:r>
            <a:endParaRPr lang="he-IL" sz="800" dirty="0">
              <a:solidFill>
                <a:srgbClr val="15834F"/>
              </a:solidFill>
            </a:endParaRPr>
          </a:p>
        </p:txBody>
      </p:sp>
      <p:cxnSp>
        <p:nvCxnSpPr>
          <p:cNvPr id="89" name="מחבר: מעוקל 88">
            <a:extLst>
              <a:ext uri="{FF2B5EF4-FFF2-40B4-BE49-F238E27FC236}">
                <a16:creationId xmlns:a16="http://schemas.microsoft.com/office/drawing/2014/main" id="{C1E4AC53-56D4-CB91-EF83-EBB06D18BF9C}"/>
              </a:ext>
            </a:extLst>
          </p:cNvPr>
          <p:cNvCxnSpPr>
            <a:endCxn id="87" idx="0"/>
          </p:cNvCxnSpPr>
          <p:nvPr/>
        </p:nvCxnSpPr>
        <p:spPr>
          <a:xfrm>
            <a:off x="5008854" y="2825494"/>
            <a:ext cx="308930" cy="268951"/>
          </a:xfrm>
          <a:prstGeom prst="curved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מלבן 89">
            <a:extLst>
              <a:ext uri="{FF2B5EF4-FFF2-40B4-BE49-F238E27FC236}">
                <a16:creationId xmlns:a16="http://schemas.microsoft.com/office/drawing/2014/main" id="{D0819C61-0597-3210-70D5-9DDE4DAD7BB4}"/>
              </a:ext>
            </a:extLst>
          </p:cNvPr>
          <p:cNvSpPr/>
          <p:nvPr/>
        </p:nvSpPr>
        <p:spPr>
          <a:xfrm>
            <a:off x="3431177" y="2358877"/>
            <a:ext cx="1255124" cy="97867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aphicFrame>
        <p:nvGraphicFramePr>
          <p:cNvPr id="91" name="תרשים 90">
            <a:extLst>
              <a:ext uri="{FF2B5EF4-FFF2-40B4-BE49-F238E27FC236}">
                <a16:creationId xmlns:a16="http://schemas.microsoft.com/office/drawing/2014/main" id="{941AF2EF-F17A-7AB0-F706-3B8F1335D7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0794742"/>
              </p:ext>
            </p:extLst>
          </p:nvPr>
        </p:nvGraphicFramePr>
        <p:xfrm>
          <a:off x="9387133" y="2358877"/>
          <a:ext cx="1482147" cy="957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2" name="תיבת טקסט 91">
            <a:extLst>
              <a:ext uri="{FF2B5EF4-FFF2-40B4-BE49-F238E27FC236}">
                <a16:creationId xmlns:a16="http://schemas.microsoft.com/office/drawing/2014/main" id="{A5F1C1FA-2919-F148-CD26-A466D56BD615}"/>
              </a:ext>
            </a:extLst>
          </p:cNvPr>
          <p:cNvSpPr txBox="1"/>
          <p:nvPr/>
        </p:nvSpPr>
        <p:spPr>
          <a:xfrm>
            <a:off x="10179180" y="3094445"/>
            <a:ext cx="11710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E34B4B"/>
                </a:solidFill>
              </a:rPr>
              <a:t>Violence</a:t>
            </a:r>
            <a:endParaRPr lang="he-IL" sz="800" dirty="0">
              <a:solidFill>
                <a:srgbClr val="E34B4B"/>
              </a:solidFill>
            </a:endParaRPr>
          </a:p>
        </p:txBody>
      </p:sp>
      <p:sp>
        <p:nvSpPr>
          <p:cNvPr id="93" name="תיבת טקסט 92">
            <a:extLst>
              <a:ext uri="{FF2B5EF4-FFF2-40B4-BE49-F238E27FC236}">
                <a16:creationId xmlns:a16="http://schemas.microsoft.com/office/drawing/2014/main" id="{327B9F1E-072E-AE4C-CCA8-777FFC0469BD}"/>
              </a:ext>
            </a:extLst>
          </p:cNvPr>
          <p:cNvSpPr txBox="1"/>
          <p:nvPr/>
        </p:nvSpPr>
        <p:spPr>
          <a:xfrm>
            <a:off x="8665195" y="2368790"/>
            <a:ext cx="16589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15834F"/>
                </a:solidFill>
              </a:rPr>
              <a:t>Non-violence</a:t>
            </a:r>
            <a:endParaRPr lang="he-IL" sz="800" dirty="0">
              <a:solidFill>
                <a:srgbClr val="15834F"/>
              </a:solidFill>
            </a:endParaRPr>
          </a:p>
        </p:txBody>
      </p:sp>
      <p:cxnSp>
        <p:nvCxnSpPr>
          <p:cNvPr id="94" name="מחבר: מעוקל 93">
            <a:extLst>
              <a:ext uri="{FF2B5EF4-FFF2-40B4-BE49-F238E27FC236}">
                <a16:creationId xmlns:a16="http://schemas.microsoft.com/office/drawing/2014/main" id="{B4FFD6DF-24F4-E514-89C5-BE284A1DF063}"/>
              </a:ext>
            </a:extLst>
          </p:cNvPr>
          <p:cNvCxnSpPr>
            <a:endCxn id="92" idx="0"/>
          </p:cNvCxnSpPr>
          <p:nvPr/>
        </p:nvCxnSpPr>
        <p:spPr>
          <a:xfrm>
            <a:off x="10455789" y="2825494"/>
            <a:ext cx="308930" cy="268951"/>
          </a:xfrm>
          <a:prstGeom prst="curved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מחבר: מעוקל 94">
            <a:extLst>
              <a:ext uri="{FF2B5EF4-FFF2-40B4-BE49-F238E27FC236}">
                <a16:creationId xmlns:a16="http://schemas.microsoft.com/office/drawing/2014/main" id="{3ADB8BC3-8BA0-6AD1-0CF9-DDBB6C0FD32C}"/>
              </a:ext>
            </a:extLst>
          </p:cNvPr>
          <p:cNvCxnSpPr>
            <a:endCxn id="93" idx="2"/>
          </p:cNvCxnSpPr>
          <p:nvPr/>
        </p:nvCxnSpPr>
        <p:spPr>
          <a:xfrm rot="10800000">
            <a:off x="9494688" y="2584235"/>
            <a:ext cx="307959" cy="253271"/>
          </a:xfrm>
          <a:prstGeom prst="curved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מלבן 95">
            <a:extLst>
              <a:ext uri="{FF2B5EF4-FFF2-40B4-BE49-F238E27FC236}">
                <a16:creationId xmlns:a16="http://schemas.microsoft.com/office/drawing/2014/main" id="{66B9E7D2-78AF-42BA-E524-B5DE757CCC06}"/>
              </a:ext>
            </a:extLst>
          </p:cNvPr>
          <p:cNvSpPr/>
          <p:nvPr/>
        </p:nvSpPr>
        <p:spPr>
          <a:xfrm>
            <a:off x="10113265" y="2404605"/>
            <a:ext cx="928116" cy="97867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Pipeline: Raw Video to Model Input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The same deterministic steps must be applied in training and evaluation.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PIPELINE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2377440" y="3246120"/>
            <a:ext cx="502920" cy="0"/>
          </a:xfrm>
          <a:prstGeom prst="line">
            <a:avLst/>
          </a:prstGeom>
          <a:noFill/>
          <a:ln w="25400">
            <a:solidFill>
              <a:srgbClr val="1739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68" name="Shape 66"/>
          <p:cNvSpPr/>
          <p:nvPr/>
        </p:nvSpPr>
        <p:spPr>
          <a:xfrm>
            <a:off x="4683033" y="3246120"/>
            <a:ext cx="502920" cy="0"/>
          </a:xfrm>
          <a:prstGeom prst="line">
            <a:avLst/>
          </a:prstGeom>
          <a:noFill/>
          <a:ln w="25400">
            <a:solidFill>
              <a:srgbClr val="1739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69" name="Shape 67"/>
          <p:cNvSpPr/>
          <p:nvPr/>
        </p:nvSpPr>
        <p:spPr>
          <a:xfrm>
            <a:off x="6988626" y="3246120"/>
            <a:ext cx="502920" cy="0"/>
          </a:xfrm>
          <a:prstGeom prst="line">
            <a:avLst/>
          </a:prstGeom>
          <a:noFill/>
          <a:ln w="25400">
            <a:solidFill>
              <a:srgbClr val="1739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70" name="Shape 68"/>
          <p:cNvSpPr/>
          <p:nvPr/>
        </p:nvSpPr>
        <p:spPr>
          <a:xfrm>
            <a:off x="9294219" y="3246120"/>
            <a:ext cx="502920" cy="0"/>
          </a:xfrm>
          <a:prstGeom prst="line">
            <a:avLst/>
          </a:prstGeom>
          <a:noFill/>
          <a:ln w="25400">
            <a:solidFill>
              <a:srgbClr val="1739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71" name="Shape 69"/>
          <p:cNvSpPr/>
          <p:nvPr/>
        </p:nvSpPr>
        <p:spPr>
          <a:xfrm>
            <a:off x="594360" y="1874520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3" name="Text 71"/>
          <p:cNvSpPr/>
          <p:nvPr/>
        </p:nvSpPr>
        <p:spPr>
          <a:xfrm>
            <a:off x="937260" y="203563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02A"/>
                </a:solidFill>
              </a:rPr>
              <a:t>1. </a:t>
            </a:r>
            <a:r>
              <a:rPr lang="en-US" sz="1200" b="1" u="sng" dirty="0">
                <a:solidFill>
                  <a:srgbClr val="18202A"/>
                </a:solidFill>
              </a:rPr>
              <a:t>Video Slicing</a:t>
            </a:r>
            <a:endParaRPr lang="en-US" sz="1200" u="sng" dirty="0"/>
          </a:p>
        </p:txBody>
      </p:sp>
      <p:sp>
        <p:nvSpPr>
          <p:cNvPr id="74" name="Text 72"/>
          <p:cNvSpPr/>
          <p:nvPr/>
        </p:nvSpPr>
        <p:spPr>
          <a:xfrm>
            <a:off x="777240" y="2363067"/>
            <a:ext cx="146304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C5A66"/>
                </a:solidFill>
              </a:rPr>
              <a:t>Audio is stripped. Videos are sliced into uniform 3-second clips to reduce compute load while maintaining consistent temporal context.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891790" y="1874520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23B8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7" name="Text 75"/>
          <p:cNvSpPr/>
          <p:nvPr/>
        </p:nvSpPr>
        <p:spPr>
          <a:xfrm>
            <a:off x="3148394" y="2035630"/>
            <a:ext cx="13155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3B83"/>
                </a:solidFill>
              </a:rPr>
              <a:t>2. </a:t>
            </a:r>
            <a:r>
              <a:rPr lang="en-US" sz="1200" b="1" u="sng" dirty="0">
                <a:solidFill>
                  <a:srgbClr val="18202A"/>
                </a:solidFill>
                <a:uFill>
                  <a:solidFill>
                    <a:srgbClr val="C23B83"/>
                  </a:solidFill>
                </a:uFill>
              </a:rPr>
              <a:t>Frame Sampling</a:t>
            </a:r>
            <a:endParaRPr lang="en-US" sz="1200" u="sng" dirty="0">
              <a:uFill>
                <a:solidFill>
                  <a:srgbClr val="C23B83"/>
                </a:solidFill>
              </a:uFill>
            </a:endParaRPr>
          </a:p>
        </p:txBody>
      </p:sp>
      <p:sp>
        <p:nvSpPr>
          <p:cNvPr id="78" name="Text 76"/>
          <p:cNvSpPr/>
          <p:nvPr/>
        </p:nvSpPr>
        <p:spPr>
          <a:xfrm>
            <a:off x="3097530" y="2206309"/>
            <a:ext cx="141732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OpenCV extracts exactly 16 uniform frames from each clip, capturing the critical motion dynamics required for the transformer.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5189220" y="1874520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1" name="Text 79"/>
          <p:cNvSpPr/>
          <p:nvPr/>
        </p:nvSpPr>
        <p:spPr>
          <a:xfrm>
            <a:off x="5334381" y="2048256"/>
            <a:ext cx="15384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3. </a:t>
            </a:r>
            <a:r>
              <a:rPr lang="en-US" sz="1200" b="1" u="sng" dirty="0">
                <a:solidFill>
                  <a:srgbClr val="18202A"/>
                </a:solidFill>
                <a:uFill>
                  <a:solidFill>
                    <a:schemeClr val="accent2"/>
                  </a:solidFill>
                </a:uFill>
              </a:rPr>
              <a:t>Resize &amp; Normalize</a:t>
            </a:r>
            <a:endParaRPr lang="en-US" sz="1200" b="1" u="sng" dirty="0">
              <a:uFill>
                <a:solidFill>
                  <a:schemeClr val="accent2"/>
                </a:solidFill>
              </a:uFill>
            </a:endParaRPr>
          </a:p>
        </p:txBody>
      </p:sp>
      <p:sp>
        <p:nvSpPr>
          <p:cNvPr id="82" name="Text 80"/>
          <p:cNvSpPr/>
          <p:nvPr/>
        </p:nvSpPr>
        <p:spPr>
          <a:xfrm>
            <a:off x="5394960" y="2223733"/>
            <a:ext cx="141732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C5A66"/>
                </a:solidFill>
              </a:rPr>
              <a:t>Frames are resized to a strict 224x224 pixel resolution and normalized to match the input requirements of deep learning architectures.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486650" y="1874520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F3A21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5" name="Text 83"/>
          <p:cNvSpPr/>
          <p:nvPr/>
        </p:nvSpPr>
        <p:spPr>
          <a:xfrm>
            <a:off x="7646098" y="2035630"/>
            <a:ext cx="1509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3A21B"/>
                </a:solidFill>
              </a:rPr>
              <a:t>4. </a:t>
            </a:r>
            <a:r>
              <a:rPr lang="en-US" sz="1200" b="1" u="sng" dirty="0">
                <a:uFill>
                  <a:solidFill>
                    <a:srgbClr val="F3A21B"/>
                  </a:solidFill>
                </a:uFill>
              </a:rPr>
              <a:t>Tensor Packaging</a:t>
            </a:r>
            <a:endParaRPr lang="en-US" sz="1400" b="1" u="sng" dirty="0">
              <a:uFill>
                <a:solidFill>
                  <a:srgbClr val="F3A21B"/>
                </a:solidFill>
              </a:uFill>
            </a:endParaRPr>
          </a:p>
        </p:txBody>
      </p:sp>
      <p:sp>
        <p:nvSpPr>
          <p:cNvPr id="86" name="Text 84"/>
          <p:cNvSpPr/>
          <p:nvPr/>
        </p:nvSpPr>
        <p:spPr>
          <a:xfrm>
            <a:off x="7640141" y="2284691"/>
            <a:ext cx="1521818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C5A66"/>
                </a:solidFill>
              </a:rPr>
              <a:t>The 16 individual frames are stacked into an ordered </a:t>
            </a:r>
            <a:r>
              <a:rPr lang="en-US" sz="1100" dirty="0" err="1">
                <a:solidFill>
                  <a:srgbClr val="4C5A66"/>
                </a:solidFill>
              </a:rPr>
              <a:t>spatio</a:t>
            </a:r>
            <a:r>
              <a:rPr lang="en-US" sz="1100" dirty="0">
                <a:solidFill>
                  <a:srgbClr val="4C5A66"/>
                </a:solidFill>
              </a:rPr>
              <a:t>-temporal tensor, enabling the neural network to process motion and sequential logic.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9784080" y="1828801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9" name="Text 87"/>
          <p:cNvSpPr/>
          <p:nvPr/>
        </p:nvSpPr>
        <p:spPr>
          <a:xfrm>
            <a:off x="10058400" y="2040855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030A0"/>
                </a:solidFill>
              </a:rPr>
              <a:t>5. </a:t>
            </a:r>
            <a:r>
              <a:rPr lang="en-US" sz="1200" b="1" u="sng" dirty="0">
                <a:solidFill>
                  <a:srgbClr val="18202A"/>
                </a:solidFill>
                <a:uFill>
                  <a:solidFill>
                    <a:srgbClr val="7030A0"/>
                  </a:solidFill>
                </a:uFill>
              </a:rPr>
              <a:t>Label Mapping</a:t>
            </a:r>
            <a:endParaRPr lang="en-US" sz="1200" u="sng" dirty="0">
              <a:uFill>
                <a:solidFill>
                  <a:srgbClr val="7030A0"/>
                </a:solidFill>
              </a:uFill>
            </a:endParaRPr>
          </a:p>
        </p:txBody>
      </p:sp>
      <p:sp>
        <p:nvSpPr>
          <p:cNvPr id="90" name="Text 88"/>
          <p:cNvSpPr/>
          <p:nvPr/>
        </p:nvSpPr>
        <p:spPr>
          <a:xfrm>
            <a:off x="9906000" y="2258559"/>
            <a:ext cx="158496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C5A66"/>
                </a:solidFill>
              </a:rPr>
              <a:t>Clip labels are mapped directly to strict binary targets: 0 (Non-violence) and 1 (Violence) for supervised training.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1188720" y="5166360"/>
            <a:ext cx="9784080" cy="658368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0160">
            <a:solidFill>
              <a:srgbClr val="B5D4E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2" name="Text 90"/>
          <p:cNvSpPr/>
          <p:nvPr/>
        </p:nvSpPr>
        <p:spPr>
          <a:xfrm>
            <a:off x="1463040" y="5413248"/>
            <a:ext cx="9235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95C"/>
                </a:solidFill>
              </a:rPr>
              <a:t>Fixed preprocessing parameters are kept identical across training, validation, and final evaluation.</a:t>
            </a:r>
            <a:endParaRPr lang="en-US" sz="1020" dirty="0"/>
          </a:p>
        </p:txBody>
      </p:sp>
      <p:sp>
        <p:nvSpPr>
          <p:cNvPr id="93" name="Shape 9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4" name="Text 92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C452D-D486-500A-2B73-6C6BFA9E3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D7CD9A-0FF6-0F58-5BCD-CFE44FC457D3}"/>
              </a:ext>
            </a:extLst>
          </p:cNvPr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9F6E60-2F7A-B695-BFFC-34D799362523}"/>
              </a:ext>
            </a:extLst>
          </p:cNvPr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2A6C94-5B3B-90DF-1158-95BCF193BDE5}"/>
              </a:ext>
            </a:extLst>
          </p:cNvPr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D077927-6813-9612-BF3A-15C5F0CCB6C2}"/>
              </a:ext>
            </a:extLst>
          </p:cNvPr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0692B84-6D47-55FA-F023-9C96B1066C7B}"/>
              </a:ext>
            </a:extLst>
          </p:cNvPr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B74AF48-4E36-2C60-B7C0-BB9AB4F3F8D9}"/>
              </a:ext>
            </a:extLst>
          </p:cNvPr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A020F44-1B4C-A85E-2FDF-F787F2F0F505}"/>
              </a:ext>
            </a:extLst>
          </p:cNvPr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7BA4DEB-AB57-8097-4E63-426E10F25BEB}"/>
              </a:ext>
            </a:extLst>
          </p:cNvPr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4FFEB30-EF37-0F1D-637E-28E4518ECF29}"/>
              </a:ext>
            </a:extLst>
          </p:cNvPr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70E9DBA-5E26-418C-55EB-B190330B8404}"/>
              </a:ext>
            </a:extLst>
          </p:cNvPr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142C007-E4D8-DE29-302E-57B130857773}"/>
              </a:ext>
            </a:extLst>
          </p:cNvPr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5CE7D78-9FED-8736-982E-ED88EB4FE421}"/>
              </a:ext>
            </a:extLst>
          </p:cNvPr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E2FB91E-16CC-6567-6A15-262D01FA8542}"/>
              </a:ext>
            </a:extLst>
          </p:cNvPr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D458D6B-A170-93E8-B726-932CA633AA96}"/>
              </a:ext>
            </a:extLst>
          </p:cNvPr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1072EAE-3818-B000-FA23-DD80C38B4098}"/>
              </a:ext>
            </a:extLst>
          </p:cNvPr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ACE6A14-44F7-5957-325D-EA2CE701D862}"/>
              </a:ext>
            </a:extLst>
          </p:cNvPr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2A701DE-5649-4D34-8CEA-F0E7ABBAD637}"/>
              </a:ext>
            </a:extLst>
          </p:cNvPr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0B41AFD-1FBC-42E4-8E69-7326177272F6}"/>
              </a:ext>
            </a:extLst>
          </p:cNvPr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C9EB8A6-2BFB-6C8B-9367-8DB50AADDD41}"/>
              </a:ext>
            </a:extLst>
          </p:cNvPr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B4AB0DE-E490-B788-C329-5A513945020C}"/>
              </a:ext>
            </a:extLst>
          </p:cNvPr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47997D9-7FCB-EDEF-EAF5-5275B225324B}"/>
              </a:ext>
            </a:extLst>
          </p:cNvPr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81C7423-6ECC-DE4E-16B2-2A8E3056AE28}"/>
              </a:ext>
            </a:extLst>
          </p:cNvPr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3F0524F-2DE8-18B5-D6AE-975741B29591}"/>
              </a:ext>
            </a:extLst>
          </p:cNvPr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ED55B82-2C22-7F45-6942-84AD1CDAB358}"/>
              </a:ext>
            </a:extLst>
          </p:cNvPr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BD6147F-EFD3-579C-F9BD-5C5626312E6F}"/>
              </a:ext>
            </a:extLst>
          </p:cNvPr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3BD2A08-25C6-40C2-4D70-BD6ED1FCFF7B}"/>
              </a:ext>
            </a:extLst>
          </p:cNvPr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8E7E727-0F97-66DA-372D-9BE7CB2A760B}"/>
              </a:ext>
            </a:extLst>
          </p:cNvPr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02314AB-57DE-3C97-5886-1D5EC3ADFA6D}"/>
              </a:ext>
            </a:extLst>
          </p:cNvPr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334B78B-4FFF-ADC6-328C-29943E97E7CC}"/>
              </a:ext>
            </a:extLst>
          </p:cNvPr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AE56F0D-10EE-AE49-9037-A4F96D7719F5}"/>
              </a:ext>
            </a:extLst>
          </p:cNvPr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1073D3B-292A-16D5-6419-F070BAA0DA27}"/>
              </a:ext>
            </a:extLst>
          </p:cNvPr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8215763-7E23-1924-ABB8-EFA5BB33BD5D}"/>
              </a:ext>
            </a:extLst>
          </p:cNvPr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E4326D4-0007-55BF-901C-EDC31DA5ED26}"/>
              </a:ext>
            </a:extLst>
          </p:cNvPr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B61D2C9-EFEA-06CA-DEA2-D022E2117FF6}"/>
              </a:ext>
            </a:extLst>
          </p:cNvPr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FDA3D0A-72F7-6795-68C5-0472F2EC470E}"/>
              </a:ext>
            </a:extLst>
          </p:cNvPr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32B54DB-E0B7-A81A-2CF8-46747ED62E7E}"/>
              </a:ext>
            </a:extLst>
          </p:cNvPr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75833DD-AB62-4C24-8C69-715D7557342B}"/>
              </a:ext>
            </a:extLst>
          </p:cNvPr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88E8B503-0649-6E82-537F-0F8D38732A5A}"/>
              </a:ext>
            </a:extLst>
          </p:cNvPr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BF6822D-3440-AC41-F1E8-AB20D3453A28}"/>
              </a:ext>
            </a:extLst>
          </p:cNvPr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C624FD15-A525-5DBE-AA1A-8A5D9F6A7F61}"/>
              </a:ext>
            </a:extLst>
          </p:cNvPr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1A76543-CB89-8679-1F39-B894DBECDA00}"/>
              </a:ext>
            </a:extLst>
          </p:cNvPr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97CA5E12-1AF9-4D01-18EB-988BF38BD253}"/>
              </a:ext>
            </a:extLst>
          </p:cNvPr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49B42E9F-EC06-2E36-0459-9D830D3D383A}"/>
              </a:ext>
            </a:extLst>
          </p:cNvPr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3A0E6A79-166C-1D1E-1329-1EC631F7E435}"/>
              </a:ext>
            </a:extLst>
          </p:cNvPr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B750E489-003F-96C7-BEBD-59AB87FC70C3}"/>
              </a:ext>
            </a:extLst>
          </p:cNvPr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44F2DEF9-EB94-2C3A-C7A6-39A2B4AB3C88}"/>
              </a:ext>
            </a:extLst>
          </p:cNvPr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7D7340C0-919F-EF8E-D0A7-399C0E6EAC5E}"/>
              </a:ext>
            </a:extLst>
          </p:cNvPr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8D52463-EC41-E1C6-DE99-AB9ED3656FAF}"/>
              </a:ext>
            </a:extLst>
          </p:cNvPr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63B9604D-4C5B-541C-8C32-C3D2CDEAE273}"/>
              </a:ext>
            </a:extLst>
          </p:cNvPr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8E4A58A8-F730-F6A7-2E4D-FF6B8F722663}"/>
              </a:ext>
            </a:extLst>
          </p:cNvPr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F42050C2-2D02-03C0-AC68-D9C6570BDE7F}"/>
              </a:ext>
            </a:extLst>
          </p:cNvPr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4367B172-21F9-747A-AC72-E1E732D55434}"/>
              </a:ext>
            </a:extLst>
          </p:cNvPr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A0D71EC4-3F2E-B319-CB02-B73A487F2F86}"/>
              </a:ext>
            </a:extLst>
          </p:cNvPr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B36B8DEB-2DD7-CA66-57ED-5457F5C7FFE2}"/>
              </a:ext>
            </a:extLst>
          </p:cNvPr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384741E7-DF76-F010-6D7B-8B64208E0542}"/>
              </a:ext>
            </a:extLst>
          </p:cNvPr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97A59F69-AFA8-E5C0-27BB-89AAD7CD3A71}"/>
              </a:ext>
            </a:extLst>
          </p:cNvPr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6F302DFE-7634-8435-A9E3-B929A2965284}"/>
              </a:ext>
            </a:extLst>
          </p:cNvPr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6F3D53DD-DFB4-59D9-8E76-0FC8CB5D9265}"/>
              </a:ext>
            </a:extLst>
          </p:cNvPr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D487A6CC-BFAB-4565-9AA5-F2564F8F8BB9}"/>
              </a:ext>
            </a:extLst>
          </p:cNvPr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F3C9B56D-F874-09BA-18EE-C16245015F4A}"/>
              </a:ext>
            </a:extLst>
          </p:cNvPr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03636605-4A32-B70D-4400-1D05D331A6DF}"/>
              </a:ext>
            </a:extLst>
          </p:cNvPr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7B2B395F-5798-6750-1C9B-CC47E3FEB3DF}"/>
              </a:ext>
            </a:extLst>
          </p:cNvPr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</a:rPr>
              <a:t>Pipeline Implementation in PyTorch</a:t>
            </a: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EE273AF1-C62A-D5D8-5638-611ED8822343}"/>
              </a:ext>
            </a:extLst>
          </p:cNvPr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Translating the conceptual blocks into deterministic tensor operations.</a:t>
            </a: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BD12D1BE-C41F-F19B-B3FF-13A14CFE6566}"/>
              </a:ext>
            </a:extLst>
          </p:cNvPr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F45294D6-341A-AA2D-4E01-83F634A33C50}"/>
              </a:ext>
            </a:extLst>
          </p:cNvPr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PIPELINE</a:t>
            </a:r>
            <a:endParaRPr lang="en-US" sz="760" dirty="0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0727F326-B7F2-90AB-8F41-8A992E722D27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9A01572A-AFC8-CBBF-E571-B6F6496A02B7}"/>
              </a:ext>
            </a:extLst>
          </p:cNvPr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8663DBB2-D48C-87A2-D1E3-7C18312EC136}"/>
              </a:ext>
            </a:extLst>
          </p:cNvPr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10</a:t>
            </a:r>
            <a:endParaRPr lang="en-US" sz="900" dirty="0"/>
          </a:p>
        </p:txBody>
      </p:sp>
      <p:pic>
        <p:nvPicPr>
          <p:cNvPr id="72" name="תמונה 71">
            <a:extLst>
              <a:ext uri="{FF2B5EF4-FFF2-40B4-BE49-F238E27FC236}">
                <a16:creationId xmlns:a16="http://schemas.microsoft.com/office/drawing/2014/main" id="{0D40C5C6-624F-16A5-C37F-F5D3744EE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341" y="1316391"/>
            <a:ext cx="3962790" cy="3889282"/>
          </a:xfrm>
          <a:prstGeom prst="rect">
            <a:avLst/>
          </a:prstGeom>
        </p:spPr>
      </p:pic>
      <p:cxnSp>
        <p:nvCxnSpPr>
          <p:cNvPr id="76" name="מחבר חץ ישר 75">
            <a:extLst>
              <a:ext uri="{FF2B5EF4-FFF2-40B4-BE49-F238E27FC236}">
                <a16:creationId xmlns:a16="http://schemas.microsoft.com/office/drawing/2014/main" id="{BD7A4765-4714-CA8B-2618-5864C0918EDE}"/>
              </a:ext>
            </a:extLst>
          </p:cNvPr>
          <p:cNvCxnSpPr>
            <a:cxnSpLocks/>
          </p:cNvCxnSpPr>
          <p:nvPr/>
        </p:nvCxnSpPr>
        <p:spPr>
          <a:xfrm>
            <a:off x="2055780" y="3373993"/>
            <a:ext cx="647175" cy="108764"/>
          </a:xfrm>
          <a:prstGeom prst="straightConnector1">
            <a:avLst/>
          </a:prstGeom>
          <a:ln>
            <a:solidFill>
              <a:srgbClr val="C23B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מחבר חץ ישר 79">
            <a:extLst>
              <a:ext uri="{FF2B5EF4-FFF2-40B4-BE49-F238E27FC236}">
                <a16:creationId xmlns:a16="http://schemas.microsoft.com/office/drawing/2014/main" id="{155663C3-E82F-5205-BF07-A9B3CFC43125}"/>
              </a:ext>
            </a:extLst>
          </p:cNvPr>
          <p:cNvCxnSpPr>
            <a:cxnSpLocks/>
            <a:stCxn id="102" idx="3"/>
          </p:cNvCxnSpPr>
          <p:nvPr/>
        </p:nvCxnSpPr>
        <p:spPr>
          <a:xfrm>
            <a:off x="2037881" y="5086336"/>
            <a:ext cx="689867" cy="2679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מחבר חץ ישר 83">
            <a:extLst>
              <a:ext uri="{FF2B5EF4-FFF2-40B4-BE49-F238E27FC236}">
                <a16:creationId xmlns:a16="http://schemas.microsoft.com/office/drawing/2014/main" id="{84A1A209-EFC5-BA53-2A23-021BCA2BA96B}"/>
              </a:ext>
            </a:extLst>
          </p:cNvPr>
          <p:cNvCxnSpPr>
            <a:cxnSpLocks/>
            <a:stCxn id="103" idx="3"/>
          </p:cNvCxnSpPr>
          <p:nvPr/>
        </p:nvCxnSpPr>
        <p:spPr>
          <a:xfrm flipV="1">
            <a:off x="1948152" y="1572769"/>
            <a:ext cx="782480" cy="2057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מחבר חץ ישר 87">
            <a:extLst>
              <a:ext uri="{FF2B5EF4-FFF2-40B4-BE49-F238E27FC236}">
                <a16:creationId xmlns:a16="http://schemas.microsoft.com/office/drawing/2014/main" id="{B8818F31-ED00-785C-AE88-F03EE8E82080}"/>
              </a:ext>
            </a:extLst>
          </p:cNvPr>
          <p:cNvCxnSpPr>
            <a:cxnSpLocks/>
            <a:stCxn id="103" idx="3"/>
          </p:cNvCxnSpPr>
          <p:nvPr/>
        </p:nvCxnSpPr>
        <p:spPr>
          <a:xfrm>
            <a:off x="1948152" y="1778486"/>
            <a:ext cx="768758" cy="1310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מחבר חץ ישר 95">
            <a:extLst>
              <a:ext uri="{FF2B5EF4-FFF2-40B4-BE49-F238E27FC236}">
                <a16:creationId xmlns:a16="http://schemas.microsoft.com/office/drawing/2014/main" id="{8E192EBB-712F-D9C3-01B6-34C65A9E59D8}"/>
              </a:ext>
            </a:extLst>
          </p:cNvPr>
          <p:cNvCxnSpPr>
            <a:cxnSpLocks/>
            <a:stCxn id="104" idx="1"/>
          </p:cNvCxnSpPr>
          <p:nvPr/>
        </p:nvCxnSpPr>
        <p:spPr>
          <a:xfrm flipH="1">
            <a:off x="5463155" y="2902473"/>
            <a:ext cx="2865742" cy="153488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מחבר חץ ישר 96">
            <a:extLst>
              <a:ext uri="{FF2B5EF4-FFF2-40B4-BE49-F238E27FC236}">
                <a16:creationId xmlns:a16="http://schemas.microsoft.com/office/drawing/2014/main" id="{14C7BCBC-2B4F-297F-26A3-070D42EBCD11}"/>
              </a:ext>
            </a:extLst>
          </p:cNvPr>
          <p:cNvCxnSpPr>
            <a:cxnSpLocks/>
            <a:stCxn id="104" idx="1"/>
          </p:cNvCxnSpPr>
          <p:nvPr/>
        </p:nvCxnSpPr>
        <p:spPr>
          <a:xfrm flipH="1" flipV="1">
            <a:off x="6734562" y="2576409"/>
            <a:ext cx="1594335" cy="32606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תמונה 97">
            <a:extLst>
              <a:ext uri="{FF2B5EF4-FFF2-40B4-BE49-F238E27FC236}">
                <a16:creationId xmlns:a16="http://schemas.microsoft.com/office/drawing/2014/main" id="{57B1FCB0-9DF2-A424-07EB-3525681F5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9442" y="4841919"/>
            <a:ext cx="4230014" cy="1526877"/>
          </a:xfrm>
          <a:prstGeom prst="rect">
            <a:avLst/>
          </a:prstGeom>
        </p:spPr>
      </p:pic>
      <p:cxnSp>
        <p:nvCxnSpPr>
          <p:cNvPr id="99" name="מחבר חץ ישר 98">
            <a:extLst>
              <a:ext uri="{FF2B5EF4-FFF2-40B4-BE49-F238E27FC236}">
                <a16:creationId xmlns:a16="http://schemas.microsoft.com/office/drawing/2014/main" id="{634DBAA4-9E94-B38B-0E92-ABDA85669072}"/>
              </a:ext>
            </a:extLst>
          </p:cNvPr>
          <p:cNvCxnSpPr>
            <a:cxnSpLocks/>
            <a:stCxn id="105" idx="3"/>
            <a:endCxn id="98" idx="1"/>
          </p:cNvCxnSpPr>
          <p:nvPr/>
        </p:nvCxnSpPr>
        <p:spPr>
          <a:xfrm flipV="1">
            <a:off x="5820680" y="5605358"/>
            <a:ext cx="1598762" cy="29938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תיבת טקסט 100">
            <a:extLst>
              <a:ext uri="{FF2B5EF4-FFF2-40B4-BE49-F238E27FC236}">
                <a16:creationId xmlns:a16="http://schemas.microsoft.com/office/drawing/2014/main" id="{5C262C78-0C40-EAF7-F7C8-BA25ECDE7D8D}"/>
              </a:ext>
            </a:extLst>
          </p:cNvPr>
          <p:cNvSpPr txBox="1"/>
          <p:nvPr/>
        </p:nvSpPr>
        <p:spPr>
          <a:xfrm>
            <a:off x="543780" y="3220760"/>
            <a:ext cx="1512000" cy="306467"/>
          </a:xfrm>
          <a:prstGeom prst="roundRect">
            <a:avLst/>
          </a:prstGeom>
          <a:solidFill>
            <a:srgbClr val="F2D6E5"/>
          </a:solidFill>
          <a:ln>
            <a:solidFill>
              <a:srgbClr val="C23B83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1200" b="1" dirty="0">
                <a:solidFill>
                  <a:srgbClr val="C23B83"/>
                </a:solidFill>
              </a:rPr>
              <a:t>2. </a:t>
            </a:r>
            <a:r>
              <a:rPr lang="en-US" sz="1200" b="1" dirty="0">
                <a:solidFill>
                  <a:srgbClr val="18202A"/>
                </a:solidFill>
                <a:uFill>
                  <a:solidFill>
                    <a:srgbClr val="C23B83"/>
                  </a:solidFill>
                </a:uFill>
              </a:rPr>
              <a:t>Frame Sampling</a:t>
            </a:r>
            <a:endParaRPr lang="en-US" sz="1200" dirty="0">
              <a:uFill>
                <a:solidFill>
                  <a:srgbClr val="C23B83"/>
                </a:solidFill>
              </a:uFill>
            </a:endParaRPr>
          </a:p>
        </p:txBody>
      </p:sp>
      <p:sp>
        <p:nvSpPr>
          <p:cNvPr id="102" name="תיבת טקסט 101">
            <a:extLst>
              <a:ext uri="{FF2B5EF4-FFF2-40B4-BE49-F238E27FC236}">
                <a16:creationId xmlns:a16="http://schemas.microsoft.com/office/drawing/2014/main" id="{2BACFED3-C8E4-F451-72A8-5FC449D7F693}"/>
              </a:ext>
            </a:extLst>
          </p:cNvPr>
          <p:cNvSpPr txBox="1"/>
          <p:nvPr/>
        </p:nvSpPr>
        <p:spPr>
          <a:xfrm>
            <a:off x="417881" y="4916076"/>
            <a:ext cx="1620000" cy="3405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strike="noStrike" kern="1200" cap="none" spc="0" normalizeH="0" baseline="0" noProof="0" dirty="0">
                <a:ln>
                  <a:noFill/>
                </a:ln>
                <a:solidFill>
                  <a:srgbClr val="F3A21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4. </a:t>
            </a:r>
            <a:r>
              <a:rPr kumimoji="0" lang="en-US" sz="12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F3A21B"/>
                  </a:solidFill>
                </a:uFill>
                <a:latin typeface="Aptos"/>
                <a:ea typeface="+mn-ea"/>
                <a:cs typeface="+mn-cs"/>
              </a:rPr>
              <a:t>Tensor Packaging</a:t>
            </a:r>
            <a:endParaRPr kumimoji="0" lang="en-US" sz="1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>
                <a:solidFill>
                  <a:srgbClr val="F3A21B"/>
                </a:solidFill>
              </a:uFill>
              <a:latin typeface="Aptos"/>
              <a:ea typeface="+mn-ea"/>
              <a:cs typeface="+mn-cs"/>
            </a:endParaRPr>
          </a:p>
        </p:txBody>
      </p:sp>
      <p:sp>
        <p:nvSpPr>
          <p:cNvPr id="103" name="תיבת טקסט 102">
            <a:extLst>
              <a:ext uri="{FF2B5EF4-FFF2-40B4-BE49-F238E27FC236}">
                <a16:creationId xmlns:a16="http://schemas.microsoft.com/office/drawing/2014/main" id="{0BBA398D-EAD5-B5A4-983B-82702EB0FBCD}"/>
              </a:ext>
            </a:extLst>
          </p:cNvPr>
          <p:cNvSpPr txBox="1"/>
          <p:nvPr/>
        </p:nvSpPr>
        <p:spPr>
          <a:xfrm>
            <a:off x="640079" y="1625252"/>
            <a:ext cx="1308073" cy="306467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1200" b="1" dirty="0">
                <a:solidFill>
                  <a:srgbClr val="18202A"/>
                </a:solidFill>
              </a:rPr>
              <a:t>1. Video Slicing</a:t>
            </a:r>
            <a:endParaRPr lang="en-US" sz="1200" b="1" dirty="0"/>
          </a:p>
        </p:txBody>
      </p:sp>
      <p:sp>
        <p:nvSpPr>
          <p:cNvPr id="104" name="תיבת טקסט 103">
            <a:extLst>
              <a:ext uri="{FF2B5EF4-FFF2-40B4-BE49-F238E27FC236}">
                <a16:creationId xmlns:a16="http://schemas.microsoft.com/office/drawing/2014/main" id="{3FC1F544-4F7D-62AF-7374-627CC97F1C97}"/>
              </a:ext>
            </a:extLst>
          </p:cNvPr>
          <p:cNvSpPr txBox="1"/>
          <p:nvPr/>
        </p:nvSpPr>
        <p:spPr>
          <a:xfrm>
            <a:off x="8328897" y="2749239"/>
            <a:ext cx="1742536" cy="30646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3. </a:t>
            </a:r>
            <a:r>
              <a:rPr kumimoji="0" lang="en-US" sz="1200" b="1" i="0" strike="noStrike" kern="1200" cap="none" spc="0" normalizeH="0" baseline="0" noProof="0" dirty="0">
                <a:ln>
                  <a:noFill/>
                </a:ln>
                <a:solidFill>
                  <a:srgbClr val="18202A"/>
                </a:solidFill>
                <a:effectLst/>
                <a:uLnTx/>
                <a:uFill>
                  <a:solidFill>
                    <a:srgbClr val="ED7D31"/>
                  </a:solidFill>
                </a:uFill>
                <a:latin typeface="Aptos"/>
                <a:ea typeface="+mn-ea"/>
                <a:cs typeface="+mn-cs"/>
              </a:rPr>
              <a:t>Resize &amp; Normalize</a:t>
            </a:r>
            <a:endParaRPr kumimoji="0" lang="en-US" sz="12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>
                <a:solidFill>
                  <a:srgbClr val="ED7D31"/>
                </a:solidFill>
              </a:uFill>
              <a:latin typeface="Aptos"/>
              <a:ea typeface="+mn-ea"/>
              <a:cs typeface="+mn-cs"/>
            </a:endParaRPr>
          </a:p>
        </p:txBody>
      </p:sp>
      <p:sp>
        <p:nvSpPr>
          <p:cNvPr id="105" name="Text 87">
            <a:extLst>
              <a:ext uri="{FF2B5EF4-FFF2-40B4-BE49-F238E27FC236}">
                <a16:creationId xmlns:a16="http://schemas.microsoft.com/office/drawing/2014/main" id="{36987B0E-2D3F-B83F-BB88-264B2330CDEB}"/>
              </a:ext>
            </a:extLst>
          </p:cNvPr>
          <p:cNvSpPr/>
          <p:nvPr/>
        </p:nvSpPr>
        <p:spPr>
          <a:xfrm>
            <a:off x="4540520" y="5776722"/>
            <a:ext cx="1280160" cy="256032"/>
          </a:xfrm>
          <a:prstGeom prst="roundRect">
            <a:avLst/>
          </a:prstGeom>
          <a:solidFill>
            <a:srgbClr val="E2CFF1"/>
          </a:solidFill>
          <a:ln>
            <a:solidFill>
              <a:srgbClr val="7030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030A0"/>
                </a:solidFill>
              </a:rPr>
              <a:t>5. </a:t>
            </a:r>
            <a:r>
              <a:rPr lang="en-US" sz="1200" b="1" dirty="0">
                <a:solidFill>
                  <a:srgbClr val="18202A"/>
                </a:solidFill>
                <a:uFill>
                  <a:solidFill>
                    <a:srgbClr val="7030A0"/>
                  </a:solidFill>
                </a:uFill>
              </a:rPr>
              <a:t>Label Mapping</a:t>
            </a:r>
            <a:endParaRPr lang="en-US" sz="1200" dirty="0">
              <a:uFill>
                <a:solidFill>
                  <a:srgbClr val="7030A0"/>
                </a:solidFill>
              </a:uFill>
            </a:endParaRPr>
          </a:p>
        </p:txBody>
      </p:sp>
    </p:spTree>
    <p:extLst>
      <p:ext uri="{BB962C8B-B14F-4D97-AF65-F5344CB8AC3E}">
        <p14:creationId xmlns:p14="http://schemas.microsoft.com/office/powerpoint/2010/main" val="3977466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30479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Architecture: ResNet50 + LSTM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Establishing the performance floor and identifying temporal limitations.</a:t>
            </a:r>
          </a:p>
        </p:txBody>
      </p:sp>
      <p:sp>
        <p:nvSpPr>
          <p:cNvPr id="65" name="Shape 63"/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BASELINE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1630679" y="1463040"/>
            <a:ext cx="8913873" cy="1663337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1" name="Shape 69"/>
          <p:cNvSpPr/>
          <p:nvPr/>
        </p:nvSpPr>
        <p:spPr>
          <a:xfrm>
            <a:off x="1630679" y="3835911"/>
            <a:ext cx="3675888" cy="206197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3" name="Text 81"/>
          <p:cNvSpPr/>
          <p:nvPr/>
        </p:nvSpPr>
        <p:spPr>
          <a:xfrm>
            <a:off x="4572000" y="4407408"/>
            <a:ext cx="1257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1" name="Text 99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11</a:t>
            </a:r>
            <a:endParaRPr lang="en-US" sz="900" dirty="0"/>
          </a:p>
        </p:txBody>
      </p:sp>
      <p:sp>
        <p:nvSpPr>
          <p:cNvPr id="106" name="Shape 69">
            <a:extLst>
              <a:ext uri="{FF2B5EF4-FFF2-40B4-BE49-F238E27FC236}">
                <a16:creationId xmlns:a16="http://schemas.microsoft.com/office/drawing/2014/main" id="{5C679D90-39A7-2507-97EA-BBF55295AA00}"/>
              </a:ext>
            </a:extLst>
          </p:cNvPr>
          <p:cNvSpPr/>
          <p:nvPr/>
        </p:nvSpPr>
        <p:spPr>
          <a:xfrm>
            <a:off x="6868664" y="3835911"/>
            <a:ext cx="3675888" cy="206197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31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3" name="תיבת טקסט 102">
            <a:extLst>
              <a:ext uri="{FF2B5EF4-FFF2-40B4-BE49-F238E27FC236}">
                <a16:creationId xmlns:a16="http://schemas.microsoft.com/office/drawing/2014/main" id="{6BAB2104-96BB-7D72-2E75-4D7FD303FA6C}"/>
              </a:ext>
            </a:extLst>
          </p:cNvPr>
          <p:cNvSpPr txBox="1"/>
          <p:nvPr/>
        </p:nvSpPr>
        <p:spPr>
          <a:xfrm>
            <a:off x="1859280" y="4632882"/>
            <a:ext cx="321868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Utilizing ResNet50 to extract spatial features frame-by-frame, passing them into an LSTM network to capture time-series context.</a:t>
            </a:r>
          </a:p>
        </p:txBody>
      </p:sp>
      <p:sp>
        <p:nvSpPr>
          <p:cNvPr id="104" name="תיבת טקסט 103">
            <a:extLst>
              <a:ext uri="{FF2B5EF4-FFF2-40B4-BE49-F238E27FC236}">
                <a16:creationId xmlns:a16="http://schemas.microsoft.com/office/drawing/2014/main" id="{F47F1EA7-C753-A6DE-FF97-1F41BBAFECD7}"/>
              </a:ext>
            </a:extLst>
          </p:cNvPr>
          <p:cNvSpPr txBox="1"/>
          <p:nvPr/>
        </p:nvSpPr>
        <p:spPr>
          <a:xfrm>
            <a:off x="7007349" y="4494137"/>
            <a:ext cx="339851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Separating spatial feature extraction from temporal learning causes the model to lose critical dynamic movement context, forcing it to rely on static artifacts rather than true motion.</a:t>
            </a:r>
            <a:endParaRPr lang="he-IL" sz="1200" dirty="0"/>
          </a:p>
        </p:txBody>
      </p:sp>
      <p:sp>
        <p:nvSpPr>
          <p:cNvPr id="105" name="תיבת טקסט 104">
            <a:extLst>
              <a:ext uri="{FF2B5EF4-FFF2-40B4-BE49-F238E27FC236}">
                <a16:creationId xmlns:a16="http://schemas.microsoft.com/office/drawing/2014/main" id="{A8FD75F3-4B34-962F-3E93-C957888B94BD}"/>
              </a:ext>
            </a:extLst>
          </p:cNvPr>
          <p:cNvSpPr txBox="1"/>
          <p:nvPr/>
        </p:nvSpPr>
        <p:spPr>
          <a:xfrm>
            <a:off x="2014727" y="3946637"/>
            <a:ext cx="2907793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The Hybrid Approach</a:t>
            </a:r>
          </a:p>
        </p:txBody>
      </p:sp>
      <p:sp>
        <p:nvSpPr>
          <p:cNvPr id="107" name="תיבת טקסט 106">
            <a:extLst>
              <a:ext uri="{FF2B5EF4-FFF2-40B4-BE49-F238E27FC236}">
                <a16:creationId xmlns:a16="http://schemas.microsoft.com/office/drawing/2014/main" id="{29CDD5CD-4162-A445-1F4C-B318DD63198A}"/>
              </a:ext>
            </a:extLst>
          </p:cNvPr>
          <p:cNvSpPr txBox="1"/>
          <p:nvPr/>
        </p:nvSpPr>
        <p:spPr>
          <a:xfrm>
            <a:off x="7216899" y="3945523"/>
            <a:ext cx="2979418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The Structural Limitation</a:t>
            </a:r>
            <a:endParaRPr lang="he-IL" sz="1600" dirty="0">
              <a:solidFill>
                <a:schemeClr val="tx2"/>
              </a:solidFill>
            </a:endParaRPr>
          </a:p>
        </p:txBody>
      </p:sp>
      <p:graphicFrame>
        <p:nvGraphicFramePr>
          <p:cNvPr id="112" name="דיאגרמה 111">
            <a:extLst>
              <a:ext uri="{FF2B5EF4-FFF2-40B4-BE49-F238E27FC236}">
                <a16:creationId xmlns:a16="http://schemas.microsoft.com/office/drawing/2014/main" id="{25BFABA3-CBD7-5255-759C-66BAA86400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3463570"/>
              </p:ext>
            </p:extLst>
          </p:nvPr>
        </p:nvGraphicFramePr>
        <p:xfrm>
          <a:off x="2032000" y="1428208"/>
          <a:ext cx="8128000" cy="1688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1FF4E-A4AB-8446-963F-D1267F56E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B234EC-CDE0-7BC1-05CC-BF5B40ED84A8}"/>
              </a:ext>
            </a:extLst>
          </p:cNvPr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0BF44C-8B39-8638-6233-64ACE063C6FB}"/>
              </a:ext>
            </a:extLst>
          </p:cNvPr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E138D7D-E8D6-84EB-02BE-00A5302537C1}"/>
              </a:ext>
            </a:extLst>
          </p:cNvPr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C8CA05E-4BA4-660C-906A-C370BE5661D4}"/>
              </a:ext>
            </a:extLst>
          </p:cNvPr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F06493A-96ED-C6B9-C951-B037CA2A397C}"/>
              </a:ext>
            </a:extLst>
          </p:cNvPr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FC57986-4DE1-C088-8557-811AA197BE80}"/>
              </a:ext>
            </a:extLst>
          </p:cNvPr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43B694-9623-ECEC-FC78-662C1FA3678F}"/>
              </a:ext>
            </a:extLst>
          </p:cNvPr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CEA1033-1E21-048A-F40B-2190146352C6}"/>
              </a:ext>
            </a:extLst>
          </p:cNvPr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9B1059E-EA9B-39E2-76DD-B55F7283262A}"/>
              </a:ext>
            </a:extLst>
          </p:cNvPr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4C0524D-99FD-9EFD-01DF-87982869A395}"/>
              </a:ext>
            </a:extLst>
          </p:cNvPr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1A0FF72-07A8-0A78-7F51-633AEEF4F167}"/>
              </a:ext>
            </a:extLst>
          </p:cNvPr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2F56ED4-4AA7-C302-08B4-445040F2339D}"/>
              </a:ext>
            </a:extLst>
          </p:cNvPr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690A704-5142-4252-E766-C22F0BC29839}"/>
              </a:ext>
            </a:extLst>
          </p:cNvPr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5CCAB61-AC21-E432-C782-382154376B8D}"/>
              </a:ext>
            </a:extLst>
          </p:cNvPr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9E58C11-AD17-5E3C-77A1-B4042162F2D5}"/>
              </a:ext>
            </a:extLst>
          </p:cNvPr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2F08F66-D968-02CA-C6EC-B349B58F55D7}"/>
              </a:ext>
            </a:extLst>
          </p:cNvPr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94D4700-E0DD-C74C-1E6A-F4BC9A411809}"/>
              </a:ext>
            </a:extLst>
          </p:cNvPr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2E779CE-86AB-A49E-49F2-9671063C3FEE}"/>
              </a:ext>
            </a:extLst>
          </p:cNvPr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20F0D09-03E5-5711-8E20-B59F736FC490}"/>
              </a:ext>
            </a:extLst>
          </p:cNvPr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FB8C6C2-6902-360F-E34E-F407F4BE67CE}"/>
              </a:ext>
            </a:extLst>
          </p:cNvPr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91CC15D-5220-0E1B-F4B4-493142E81558}"/>
              </a:ext>
            </a:extLst>
          </p:cNvPr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BC2D8DF-40CC-31BA-E51B-74363E85C430}"/>
              </a:ext>
            </a:extLst>
          </p:cNvPr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924745C-ADDC-EA0A-F9F4-3CBC1EF90725}"/>
              </a:ext>
            </a:extLst>
          </p:cNvPr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2AE8218-600E-B0A0-DA11-128DF2DB303A}"/>
              </a:ext>
            </a:extLst>
          </p:cNvPr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F644FC4-85A7-4890-3B3C-6A8803EF30E4}"/>
              </a:ext>
            </a:extLst>
          </p:cNvPr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88F4CC0-9DD9-6163-0444-ADD3E4DA5F23}"/>
              </a:ext>
            </a:extLst>
          </p:cNvPr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73B1066-4253-3E4B-C0FE-9D4A11E1EC07}"/>
              </a:ext>
            </a:extLst>
          </p:cNvPr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4B58C75-F635-5D96-FB68-E0403EE4A5F7}"/>
              </a:ext>
            </a:extLst>
          </p:cNvPr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46F4A2F-6933-9BCB-8CFA-53FDA55DE6BF}"/>
              </a:ext>
            </a:extLst>
          </p:cNvPr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C21A390-B03E-62C5-264E-CB8618944403}"/>
              </a:ext>
            </a:extLst>
          </p:cNvPr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16B6141-311B-8BFE-6D0C-A371531557F4}"/>
              </a:ext>
            </a:extLst>
          </p:cNvPr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6C6990F-6FF1-D41C-755F-A5938C575FD5}"/>
              </a:ext>
            </a:extLst>
          </p:cNvPr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7474CDA-7646-155C-22A7-3D4784FEB030}"/>
              </a:ext>
            </a:extLst>
          </p:cNvPr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0A926D1-2B08-8B86-DB63-128C0A9AFB3B}"/>
              </a:ext>
            </a:extLst>
          </p:cNvPr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9FF2101-10E6-53D4-745B-6ABCA545AAD3}"/>
              </a:ext>
            </a:extLst>
          </p:cNvPr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71DEDE5-8213-0C65-6CF1-5238B9E55725}"/>
              </a:ext>
            </a:extLst>
          </p:cNvPr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C096D67-6769-AF56-AC5A-7AD0A7FAA3F8}"/>
              </a:ext>
            </a:extLst>
          </p:cNvPr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37CBD65-CD58-4C19-A933-3CC613C5423D}"/>
              </a:ext>
            </a:extLst>
          </p:cNvPr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54A2BF4-F520-3C4B-81AB-1AF1FE2A2FAB}"/>
              </a:ext>
            </a:extLst>
          </p:cNvPr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E9EFB5C4-22BA-B708-A3F4-AA7963E4B38F}"/>
              </a:ext>
            </a:extLst>
          </p:cNvPr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1BD425C-D38C-9760-717F-0951807AA3D2}"/>
              </a:ext>
            </a:extLst>
          </p:cNvPr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AB18AF67-0E93-6EB2-2F56-38F012C0B15D}"/>
              </a:ext>
            </a:extLst>
          </p:cNvPr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8E5D8D93-E29C-58C8-B614-454784FEC1CA}"/>
              </a:ext>
            </a:extLst>
          </p:cNvPr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41259AD9-D65B-9418-A97E-7B37C9043576}"/>
              </a:ext>
            </a:extLst>
          </p:cNvPr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9FD28145-CFD3-EEEC-F6DF-B5DF5FA9C802}"/>
              </a:ext>
            </a:extLst>
          </p:cNvPr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80AD21D3-D9FC-F0A0-8623-6077B301A9FE}"/>
              </a:ext>
            </a:extLst>
          </p:cNvPr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B504E899-25A8-4549-EE85-92DB125BEDC1}"/>
              </a:ext>
            </a:extLst>
          </p:cNvPr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EC456379-28C4-F97B-3A15-30F8F3529A4E}"/>
              </a:ext>
            </a:extLst>
          </p:cNvPr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E6EE847D-4076-D804-3109-83189FA496C8}"/>
              </a:ext>
            </a:extLst>
          </p:cNvPr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1943E7C4-D445-5CAD-8679-1FF7BC21D8A6}"/>
              </a:ext>
            </a:extLst>
          </p:cNvPr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84D21259-7FBE-32BE-64C7-02F3A371689D}"/>
              </a:ext>
            </a:extLst>
          </p:cNvPr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90AFBAB8-1514-82A7-160A-4BCE69C57E98}"/>
              </a:ext>
            </a:extLst>
          </p:cNvPr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5424CDE4-D982-AB1C-A981-327D387263CB}"/>
              </a:ext>
            </a:extLst>
          </p:cNvPr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9F536A4-9903-BA1A-D5C5-B6C458B712B2}"/>
              </a:ext>
            </a:extLst>
          </p:cNvPr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927A799B-826D-36B0-BE5D-589BB005FB6C}"/>
              </a:ext>
            </a:extLst>
          </p:cNvPr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171BAE19-0DBD-7208-7929-D80104B813B0}"/>
              </a:ext>
            </a:extLst>
          </p:cNvPr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BEC266AB-5A1C-46B9-A0D2-2C81DBD2EFC7}"/>
              </a:ext>
            </a:extLst>
          </p:cNvPr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DC45DAD3-07A9-DC93-A32A-D97E4AD9C737}"/>
              </a:ext>
            </a:extLst>
          </p:cNvPr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54EC80F7-8D16-4E8F-3DC8-DE2C1A96C147}"/>
              </a:ext>
            </a:extLst>
          </p:cNvPr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0F144F0A-B526-FCF4-BC8D-0B109A40EE4C}"/>
              </a:ext>
            </a:extLst>
          </p:cNvPr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FE1CD7EA-344A-6A86-1A92-5BD2D308A3B5}"/>
              </a:ext>
            </a:extLst>
          </p:cNvPr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5C523590-70CE-EA15-6FF4-679B07AC48EB}"/>
              </a:ext>
            </a:extLst>
          </p:cNvPr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</a:rPr>
              <a:t>Baseline Implementation: Hybrid Architecture</a:t>
            </a: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B384D6B6-4E2E-7BC2-AEEC-A531C149758F}"/>
              </a:ext>
            </a:extLst>
          </p:cNvPr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Translating the spatial-temporal separation into PyTorch logic.</a:t>
            </a: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8916EBFF-D1AA-0C66-24D3-D83BC5BD3050}"/>
              </a:ext>
            </a:extLst>
          </p:cNvPr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FF7E8DB8-9024-F515-6FB5-63C19A73CC45}"/>
              </a:ext>
            </a:extLst>
          </p:cNvPr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BASELINE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3EA61E73-4053-293F-385B-EBEDB6F3D716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183107DE-7DFE-96CB-7280-6A47F3BDA4FB}"/>
              </a:ext>
            </a:extLst>
          </p:cNvPr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FFC4D087-BAEC-D8D5-D286-B7678BCBF00B}"/>
              </a:ext>
            </a:extLst>
          </p:cNvPr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12</a:t>
            </a:r>
            <a:endParaRPr lang="en-US" sz="900" dirty="0"/>
          </a:p>
        </p:txBody>
      </p:sp>
      <p:pic>
        <p:nvPicPr>
          <p:cNvPr id="67" name="תמונה 66">
            <a:extLst>
              <a:ext uri="{FF2B5EF4-FFF2-40B4-BE49-F238E27FC236}">
                <a16:creationId xmlns:a16="http://schemas.microsoft.com/office/drawing/2014/main" id="{A57D6853-BF3A-B79F-5249-DC45CA0F3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438" y="2017833"/>
            <a:ext cx="5393629" cy="2839587"/>
          </a:xfrm>
          <a:prstGeom prst="rect">
            <a:avLst/>
          </a:prstGeom>
        </p:spPr>
      </p:pic>
      <p:sp>
        <p:nvSpPr>
          <p:cNvPr id="69" name="תיבת טקסט 68">
            <a:extLst>
              <a:ext uri="{FF2B5EF4-FFF2-40B4-BE49-F238E27FC236}">
                <a16:creationId xmlns:a16="http://schemas.microsoft.com/office/drawing/2014/main" id="{1F0ED8D9-7BC8-7F45-AD17-D502E29BFD15}"/>
              </a:ext>
            </a:extLst>
          </p:cNvPr>
          <p:cNvSpPr txBox="1"/>
          <p:nvPr/>
        </p:nvSpPr>
        <p:spPr>
          <a:xfrm>
            <a:off x="147493" y="1560455"/>
            <a:ext cx="2697482" cy="1072634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1200" b="1" dirty="0"/>
              <a:t>ResNet50 :Spatial Features</a:t>
            </a:r>
          </a:p>
          <a:p>
            <a:pPr algn="ctr"/>
            <a:r>
              <a:rPr lang="en-US" sz="1100" dirty="0"/>
              <a:t>Loading pre-trained weights to act as a static, frame-by-frame feature extractor.</a:t>
            </a:r>
          </a:p>
        </p:txBody>
      </p:sp>
      <p:cxnSp>
        <p:nvCxnSpPr>
          <p:cNvPr id="70" name="מחבר חץ ישר 69">
            <a:extLst>
              <a:ext uri="{FF2B5EF4-FFF2-40B4-BE49-F238E27FC236}">
                <a16:creationId xmlns:a16="http://schemas.microsoft.com/office/drawing/2014/main" id="{C75C83DD-72D1-2375-4FBB-D85BA7E23948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2844975" y="2096772"/>
            <a:ext cx="547450" cy="312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תיבת טקסט 73">
            <a:extLst>
              <a:ext uri="{FF2B5EF4-FFF2-40B4-BE49-F238E27FC236}">
                <a16:creationId xmlns:a16="http://schemas.microsoft.com/office/drawing/2014/main" id="{34538D50-44D7-0421-27E2-30648AF17D6B}"/>
              </a:ext>
            </a:extLst>
          </p:cNvPr>
          <p:cNvSpPr txBox="1"/>
          <p:nvPr/>
        </p:nvSpPr>
        <p:spPr>
          <a:xfrm>
            <a:off x="427392" y="4951870"/>
            <a:ext cx="2697482" cy="107263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1200" b="1" dirty="0"/>
              <a:t>Dense Layers: Binary Output</a:t>
            </a:r>
          </a:p>
          <a:p>
            <a:pPr algn="ctr"/>
            <a:r>
              <a:rPr lang="en-US" sz="1100" dirty="0"/>
              <a:t>Final fully connected network using a Sigmoid activation to output violence probability.</a:t>
            </a:r>
          </a:p>
        </p:txBody>
      </p:sp>
      <p:cxnSp>
        <p:nvCxnSpPr>
          <p:cNvPr id="75" name="מחבר חץ ישר 74">
            <a:extLst>
              <a:ext uri="{FF2B5EF4-FFF2-40B4-BE49-F238E27FC236}">
                <a16:creationId xmlns:a16="http://schemas.microsoft.com/office/drawing/2014/main" id="{5295684D-9C45-E3AC-9CBD-0BA94652F050}"/>
              </a:ext>
            </a:extLst>
          </p:cNvPr>
          <p:cNvCxnSpPr>
            <a:cxnSpLocks/>
            <a:stCxn id="74" idx="0"/>
          </p:cNvCxnSpPr>
          <p:nvPr/>
        </p:nvCxnSpPr>
        <p:spPr>
          <a:xfrm flipV="1">
            <a:off x="1776133" y="4364966"/>
            <a:ext cx="1612874" cy="586904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תיבת טקסט 78">
            <a:extLst>
              <a:ext uri="{FF2B5EF4-FFF2-40B4-BE49-F238E27FC236}">
                <a16:creationId xmlns:a16="http://schemas.microsoft.com/office/drawing/2014/main" id="{BE04A19D-A58C-7939-BA04-B595F0467637}"/>
              </a:ext>
            </a:extLst>
          </p:cNvPr>
          <p:cNvSpPr txBox="1"/>
          <p:nvPr/>
        </p:nvSpPr>
        <p:spPr>
          <a:xfrm>
            <a:off x="9253728" y="2892683"/>
            <a:ext cx="2697482" cy="1072634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1200" b="1" dirty="0"/>
              <a:t>LSTM: Temporal Learning</a:t>
            </a:r>
          </a:p>
          <a:p>
            <a:pPr algn="ctr"/>
            <a:r>
              <a:rPr lang="en-US" sz="1100" dirty="0"/>
              <a:t>Processing the sequence of </a:t>
            </a:r>
            <a:r>
              <a:rPr lang="en-US" sz="1100" dirty="0" err="1"/>
              <a:t>ResNet</a:t>
            </a:r>
            <a:r>
              <a:rPr lang="en-US" sz="1100" dirty="0"/>
              <a:t> outputs to learn the time-series dynamics of the clip.</a:t>
            </a:r>
          </a:p>
        </p:txBody>
      </p:sp>
      <p:cxnSp>
        <p:nvCxnSpPr>
          <p:cNvPr id="81" name="מחבר חץ ישר 80">
            <a:extLst>
              <a:ext uri="{FF2B5EF4-FFF2-40B4-BE49-F238E27FC236}">
                <a16:creationId xmlns:a16="http://schemas.microsoft.com/office/drawing/2014/main" id="{9E6F232F-47F2-57AB-4F39-7FCED92F68AB}"/>
              </a:ext>
            </a:extLst>
          </p:cNvPr>
          <p:cNvCxnSpPr>
            <a:cxnSpLocks/>
            <a:stCxn id="79" idx="1"/>
          </p:cNvCxnSpPr>
          <p:nvPr/>
        </p:nvCxnSpPr>
        <p:spPr>
          <a:xfrm flipH="1">
            <a:off x="6607834" y="3429000"/>
            <a:ext cx="2645894" cy="1750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580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AC3FF-BEF1-8BD3-0AD5-BD5EA0E85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A64D34-EDC5-4701-E648-AADC7BB90D9D}"/>
              </a:ext>
            </a:extLst>
          </p:cNvPr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8EDB6A-055A-DAC8-2A04-E406EE2D47A4}"/>
              </a:ext>
            </a:extLst>
          </p:cNvPr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0C3153-DC1C-91E6-7CFF-57E04B077AC7}"/>
              </a:ext>
            </a:extLst>
          </p:cNvPr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1055739-9FC3-8B3A-0449-CAC85C272663}"/>
              </a:ext>
            </a:extLst>
          </p:cNvPr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29FFECD-AA22-8A7B-9562-00B968DD5E9B}"/>
              </a:ext>
            </a:extLst>
          </p:cNvPr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3BF6EC3-0FBD-6D55-ED62-0E37F4081469}"/>
              </a:ext>
            </a:extLst>
          </p:cNvPr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4BBC7CF-A7C9-79C9-97D7-1AFFA1364716}"/>
              </a:ext>
            </a:extLst>
          </p:cNvPr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D51234E-D21B-979D-E56A-2A08EDD2F68B}"/>
              </a:ext>
            </a:extLst>
          </p:cNvPr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8A2C92E-3A3A-3CD4-EE5A-EB8513A8B622}"/>
              </a:ext>
            </a:extLst>
          </p:cNvPr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93C06FD-CB83-CE94-C0F4-B47E104EB7F8}"/>
              </a:ext>
            </a:extLst>
          </p:cNvPr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61D7B9E-8585-4044-9242-DFF08CCBBD25}"/>
              </a:ext>
            </a:extLst>
          </p:cNvPr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5C35F30-E944-785F-F7FC-E934CC8C5973}"/>
              </a:ext>
            </a:extLst>
          </p:cNvPr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C8954EC-59F5-0B25-1751-798204E4B599}"/>
              </a:ext>
            </a:extLst>
          </p:cNvPr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ADE86FE-E4F9-CC53-86A0-8B732780681D}"/>
              </a:ext>
            </a:extLst>
          </p:cNvPr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318081D-A245-ECC1-826C-22FCF987DDA4}"/>
              </a:ext>
            </a:extLst>
          </p:cNvPr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8EEC4C2-8981-C6D2-85A2-3819D55729B6}"/>
              </a:ext>
            </a:extLst>
          </p:cNvPr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A1B91E2-871B-0068-4DFD-DC51296D0E9B}"/>
              </a:ext>
            </a:extLst>
          </p:cNvPr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C90841D-AD2D-8194-9B24-A6785FA9775D}"/>
              </a:ext>
            </a:extLst>
          </p:cNvPr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6F0A3E5-C247-BD3A-D264-F9B0F8ADA888}"/>
              </a:ext>
            </a:extLst>
          </p:cNvPr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A0BB182-0D59-79E5-3A82-1A16FBD44AE0}"/>
              </a:ext>
            </a:extLst>
          </p:cNvPr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3479472-6F5E-8609-0A9F-8DBC5A774DDE}"/>
              </a:ext>
            </a:extLst>
          </p:cNvPr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8D2DC20-66C4-2B42-A129-78F3294A2870}"/>
              </a:ext>
            </a:extLst>
          </p:cNvPr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5452B9B-30E3-90BA-30EF-A82BE44E01AD}"/>
              </a:ext>
            </a:extLst>
          </p:cNvPr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0906607-41C5-965B-2142-64975E869482}"/>
              </a:ext>
            </a:extLst>
          </p:cNvPr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19B8EB2-E61D-8A86-3478-0273E034FEA7}"/>
              </a:ext>
            </a:extLst>
          </p:cNvPr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4B85412-1AB6-B305-D85A-E85929AB1005}"/>
              </a:ext>
            </a:extLst>
          </p:cNvPr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8F12AFE-A07D-6EBE-2CD7-4A496032BB06}"/>
              </a:ext>
            </a:extLst>
          </p:cNvPr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79E097A-8858-7ADA-321F-12A79B0DA203}"/>
              </a:ext>
            </a:extLst>
          </p:cNvPr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BDCA052-1AE7-4D1C-DFA9-794426A5F332}"/>
              </a:ext>
            </a:extLst>
          </p:cNvPr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293D0EC-0724-76F9-E27D-750D494FA4EA}"/>
              </a:ext>
            </a:extLst>
          </p:cNvPr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A6761D9-8CD9-1470-78CA-A7D09D2F8185}"/>
              </a:ext>
            </a:extLst>
          </p:cNvPr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AD5F0B3-6D8C-8E5F-8C3C-F93D9FE14D2E}"/>
              </a:ext>
            </a:extLst>
          </p:cNvPr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82E0570-BDFC-5D6A-ADE9-5250863516E7}"/>
              </a:ext>
            </a:extLst>
          </p:cNvPr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6F50213-E7AB-34E4-0272-72678EAD8515}"/>
              </a:ext>
            </a:extLst>
          </p:cNvPr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4E34FBA-5DF8-75BF-8968-9E80CFCB7A11}"/>
              </a:ext>
            </a:extLst>
          </p:cNvPr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25B62D70-E4B9-BF00-29BE-1B87B20DED04}"/>
              </a:ext>
            </a:extLst>
          </p:cNvPr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640E7B2-AD80-9AE8-86E4-4253BEC3FF71}"/>
              </a:ext>
            </a:extLst>
          </p:cNvPr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8E27BEB0-5895-79B5-625B-6189B185A895}"/>
              </a:ext>
            </a:extLst>
          </p:cNvPr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C3946BC-826E-6546-5336-EA3213728F3D}"/>
              </a:ext>
            </a:extLst>
          </p:cNvPr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8FAF6E3B-334B-261C-8246-0F965BB25028}"/>
              </a:ext>
            </a:extLst>
          </p:cNvPr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0C446F40-8900-F546-493E-1F8EB4E1BEBC}"/>
              </a:ext>
            </a:extLst>
          </p:cNvPr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C9890214-8596-AAEB-31C0-48FA414AE308}"/>
              </a:ext>
            </a:extLst>
          </p:cNvPr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44966301-2BAC-828A-B8B4-BE28CAD39172}"/>
              </a:ext>
            </a:extLst>
          </p:cNvPr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F4339FEA-C5E2-542B-A681-4AF88E571733}"/>
              </a:ext>
            </a:extLst>
          </p:cNvPr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2E5A6437-FF73-C2C2-5AB1-FD1F3D68BD8E}"/>
              </a:ext>
            </a:extLst>
          </p:cNvPr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98A9BEEC-D191-19C4-507D-A94A3C26DDB5}"/>
              </a:ext>
            </a:extLst>
          </p:cNvPr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098D85BF-6D37-6932-4366-CF6876DE903C}"/>
              </a:ext>
            </a:extLst>
          </p:cNvPr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44C5A0AE-4EE6-6357-B57D-B989482DEFB3}"/>
              </a:ext>
            </a:extLst>
          </p:cNvPr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2E8D0A98-CA0F-C46E-9D3D-8690502FFDBD}"/>
              </a:ext>
            </a:extLst>
          </p:cNvPr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B96DC5EC-2A3E-1522-0C59-3EC421E25FEA}"/>
              </a:ext>
            </a:extLst>
          </p:cNvPr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9BC344D5-B29C-8BE4-F027-3C2EF66EC679}"/>
              </a:ext>
            </a:extLst>
          </p:cNvPr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5444757B-7FC0-6C68-13C8-DE8235F2F9D3}"/>
              </a:ext>
            </a:extLst>
          </p:cNvPr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DBE6E1E4-E00F-1908-C01C-9E163681A8CD}"/>
              </a:ext>
            </a:extLst>
          </p:cNvPr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4D6F48B5-E1FE-9CF6-31D3-8E9B9C03A2D4}"/>
              </a:ext>
            </a:extLst>
          </p:cNvPr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1EBA1C82-004C-8DF9-358D-7BC37935315D}"/>
              </a:ext>
            </a:extLst>
          </p:cNvPr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7A53C11E-F28D-ED9E-BCF0-4DF7CCA6F68F}"/>
              </a:ext>
            </a:extLst>
          </p:cNvPr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90F728E3-731C-0DB6-3894-713FE86725BB}"/>
              </a:ext>
            </a:extLst>
          </p:cNvPr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B98F83DD-9118-0477-2FBE-CA86BBF840A7}"/>
              </a:ext>
            </a:extLst>
          </p:cNvPr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E150433D-696C-618F-94A1-F75D78A743D1}"/>
              </a:ext>
            </a:extLst>
          </p:cNvPr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B28A5BC5-9800-B8B0-D306-5BA6D92EF831}"/>
              </a:ext>
            </a:extLst>
          </p:cNvPr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80300B6B-55E9-AF8A-4FEB-3882BA1CEAFB}"/>
              </a:ext>
            </a:extLst>
          </p:cNvPr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C4CBC51A-DB5E-DDD9-121F-42C95CBE25F7}"/>
              </a:ext>
            </a:extLst>
          </p:cNvPr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Results: ResNet50 + LSTM</a:t>
            </a:r>
            <a:endParaRPr lang="en-US" sz="2700" dirty="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A7AA3EB7-C076-55C7-3A29-8503E66923EF}"/>
              </a:ext>
            </a:extLst>
          </p:cNvPr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Model collapse and the severe False Positive bias.</a:t>
            </a:r>
            <a:endParaRPr lang="en-US" sz="105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80DC6887-97E1-0C23-CC4C-3F692AB95CAB}"/>
              </a:ext>
            </a:extLst>
          </p:cNvPr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101BDC58-BDB7-50D8-3E98-D7CA3B5C0C4B}"/>
              </a:ext>
            </a:extLst>
          </p:cNvPr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BASELINE</a:t>
            </a:r>
            <a:endParaRPr lang="en-US" sz="76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C4B8FC04-7E71-0C80-8E12-5D6CED79AC70}"/>
              </a:ext>
            </a:extLst>
          </p:cNvPr>
          <p:cNvSpPr/>
          <p:nvPr/>
        </p:nvSpPr>
        <p:spPr>
          <a:xfrm>
            <a:off x="5441121" y="2944368"/>
            <a:ext cx="5600257" cy="3003591"/>
          </a:xfrm>
          <a:prstGeom prst="roundRect">
            <a:avLst>
              <a:gd name="adj" fmla="val 2667"/>
            </a:avLst>
          </a:prstGeom>
          <a:solidFill>
            <a:srgbClr val="FFF4D8"/>
          </a:solidFill>
          <a:ln w="10160">
            <a:solidFill>
              <a:srgbClr val="F3A21B"/>
            </a:solidFill>
            <a:prstDash val="solid"/>
          </a:ln>
        </p:spPr>
        <p:txBody>
          <a:bodyPr/>
          <a:lstStyle/>
          <a:p>
            <a:endParaRPr lang="he-IL">
              <a:solidFill>
                <a:prstClr val="black"/>
              </a:solidFill>
              <a:latin typeface="Aptos"/>
              <a:cs typeface="Arial" panose="020B0604020202020204" pitchFamily="34" charset="0"/>
            </a:endParaRPr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43B8C45E-1A90-5C16-6886-913862A50A99}"/>
              </a:ext>
            </a:extLst>
          </p:cNvPr>
          <p:cNvSpPr/>
          <p:nvPr/>
        </p:nvSpPr>
        <p:spPr>
          <a:xfrm>
            <a:off x="730222" y="1417320"/>
            <a:ext cx="3840480" cy="45262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7780">
            <a:solidFill>
              <a:srgbClr val="F3A21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F316BC04-8F47-D0CD-193D-00BA145FBE75}"/>
              </a:ext>
            </a:extLst>
          </p:cNvPr>
          <p:cNvSpPr/>
          <p:nvPr/>
        </p:nvSpPr>
        <p:spPr>
          <a:xfrm>
            <a:off x="799015" y="1581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02A"/>
                </a:solidFill>
              </a:rPr>
              <a:t>Baseline Confusion Matrix</a:t>
            </a:r>
            <a:endParaRPr lang="en-US" sz="1200" dirty="0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4CC3FF73-FD32-710D-B0B4-9F585C52B9BD}"/>
              </a:ext>
            </a:extLst>
          </p:cNvPr>
          <p:cNvSpPr/>
          <p:nvPr/>
        </p:nvSpPr>
        <p:spPr>
          <a:xfrm rot="16200000">
            <a:off x="744151" y="373075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C8B93"/>
                </a:solidFill>
              </a:rPr>
              <a:t>Actual</a:t>
            </a:r>
            <a:endParaRPr lang="en-US" sz="750" dirty="0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21D3F6B7-1B6B-50E3-9411-BE0AD0659955}"/>
              </a:ext>
            </a:extLst>
          </p:cNvPr>
          <p:cNvSpPr/>
          <p:nvPr/>
        </p:nvSpPr>
        <p:spPr>
          <a:xfrm>
            <a:off x="1594543" y="1984248"/>
            <a:ext cx="1257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C5A66"/>
                </a:solidFill>
              </a:rPr>
              <a:t>Normal</a:t>
            </a:r>
            <a:endParaRPr lang="en-US" sz="800" dirty="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E20C923D-98DE-4CB4-3709-FF2FFCCDD028}"/>
              </a:ext>
            </a:extLst>
          </p:cNvPr>
          <p:cNvSpPr/>
          <p:nvPr/>
        </p:nvSpPr>
        <p:spPr>
          <a:xfrm>
            <a:off x="2851843" y="1984248"/>
            <a:ext cx="1257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C5A66"/>
                </a:solidFill>
              </a:rPr>
              <a:t>Violence</a:t>
            </a:r>
            <a:endParaRPr lang="en-US" sz="800" dirty="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678DEB48-7022-ACEB-C022-8559B9626DA8}"/>
              </a:ext>
            </a:extLst>
          </p:cNvPr>
          <p:cNvSpPr/>
          <p:nvPr/>
        </p:nvSpPr>
        <p:spPr>
          <a:xfrm>
            <a:off x="799015" y="3026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C5A66"/>
                </a:solidFill>
              </a:rPr>
              <a:t>Normal</a:t>
            </a:r>
            <a:endParaRPr lang="en-US" sz="800" dirty="0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DF2EBB43-0616-CA43-ECDC-E8C7CD31F72B}"/>
              </a:ext>
            </a:extLst>
          </p:cNvPr>
          <p:cNvSpPr/>
          <p:nvPr/>
        </p:nvSpPr>
        <p:spPr>
          <a:xfrm>
            <a:off x="799015" y="44897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C5A66"/>
                </a:solidFill>
              </a:rPr>
              <a:t>Violence</a:t>
            </a:r>
            <a:endParaRPr lang="en-US" sz="80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59537392-4EA7-4C86-6154-3F2C106A3DB6}"/>
              </a:ext>
            </a:extLst>
          </p:cNvPr>
          <p:cNvSpPr/>
          <p:nvPr/>
        </p:nvSpPr>
        <p:spPr>
          <a:xfrm>
            <a:off x="1594543" y="2377440"/>
            <a:ext cx="1257300" cy="1463040"/>
          </a:xfrm>
          <a:prstGeom prst="rect">
            <a:avLst/>
          </a:prstGeom>
          <a:solidFill>
            <a:srgbClr val="E7F6E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27F441F0-1A65-E521-2A98-27FDE985C368}"/>
              </a:ext>
            </a:extLst>
          </p:cNvPr>
          <p:cNvSpPr/>
          <p:nvPr/>
        </p:nvSpPr>
        <p:spPr>
          <a:xfrm>
            <a:off x="1594543" y="2944368"/>
            <a:ext cx="1257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202A"/>
                </a:solidFill>
              </a:rPr>
              <a:t>34</a:t>
            </a:r>
            <a:endParaRPr lang="en-US" sz="1800" dirty="0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655D547E-F1A3-D751-8D09-F4F30B5B353E}"/>
              </a:ext>
            </a:extLst>
          </p:cNvPr>
          <p:cNvSpPr/>
          <p:nvPr/>
        </p:nvSpPr>
        <p:spPr>
          <a:xfrm>
            <a:off x="2851843" y="2377440"/>
            <a:ext cx="1257300" cy="1463040"/>
          </a:xfrm>
          <a:prstGeom prst="rect">
            <a:avLst/>
          </a:prstGeom>
          <a:solidFill>
            <a:srgbClr val="FFE2B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A08272DD-B5ED-DC44-C4FF-AA693ED89DF8}"/>
              </a:ext>
            </a:extLst>
          </p:cNvPr>
          <p:cNvSpPr/>
          <p:nvPr/>
        </p:nvSpPr>
        <p:spPr>
          <a:xfrm>
            <a:off x="2851843" y="2944368"/>
            <a:ext cx="1257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202A"/>
                </a:solidFill>
              </a:rPr>
              <a:t>437</a:t>
            </a:r>
            <a:endParaRPr lang="en-US" sz="1800" dirty="0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D07C64CB-2349-BCFF-D741-1AE9BC230C7F}"/>
              </a:ext>
            </a:extLst>
          </p:cNvPr>
          <p:cNvSpPr/>
          <p:nvPr/>
        </p:nvSpPr>
        <p:spPr>
          <a:xfrm>
            <a:off x="1594543" y="3840480"/>
            <a:ext cx="1257300" cy="1463040"/>
          </a:xfrm>
          <a:prstGeom prst="rect">
            <a:avLst/>
          </a:prstGeom>
          <a:solidFill>
            <a:srgbClr val="FFF4D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EE255781-6207-DFBA-5DF3-AC7837C9CFF0}"/>
              </a:ext>
            </a:extLst>
          </p:cNvPr>
          <p:cNvSpPr/>
          <p:nvPr/>
        </p:nvSpPr>
        <p:spPr>
          <a:xfrm>
            <a:off x="1594543" y="4407408"/>
            <a:ext cx="1257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202A"/>
                </a:solidFill>
              </a:rPr>
              <a:t>9</a:t>
            </a:r>
            <a:endParaRPr lang="en-US" sz="1800" dirty="0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758159FB-427C-C707-2DDE-90AF4A0D2C6A}"/>
              </a:ext>
            </a:extLst>
          </p:cNvPr>
          <p:cNvSpPr/>
          <p:nvPr/>
        </p:nvSpPr>
        <p:spPr>
          <a:xfrm>
            <a:off x="2851843" y="3840480"/>
            <a:ext cx="1257300" cy="1463040"/>
          </a:xfrm>
          <a:prstGeom prst="rect">
            <a:avLst/>
          </a:prstGeom>
          <a:solidFill>
            <a:srgbClr val="E7F6E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5A96CACB-A30D-F056-55B5-7960C3B2B2E8}"/>
              </a:ext>
            </a:extLst>
          </p:cNvPr>
          <p:cNvSpPr/>
          <p:nvPr/>
        </p:nvSpPr>
        <p:spPr>
          <a:xfrm>
            <a:off x="2851843" y="4407408"/>
            <a:ext cx="1257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202A"/>
                </a:solidFill>
              </a:rPr>
              <a:t>461</a:t>
            </a:r>
            <a:endParaRPr lang="en-US" sz="1800" dirty="0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1F89398C-AED9-5269-38E2-90DD2C8CA09C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3A0671CD-3BB4-F294-0E74-1FC0FC632BEA}"/>
              </a:ext>
            </a:extLst>
          </p:cNvPr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8C158FDF-3B2E-9E7A-A28D-5206333D266D}"/>
              </a:ext>
            </a:extLst>
          </p:cNvPr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13</a:t>
            </a:r>
            <a:endParaRPr lang="en-US" sz="900" dirty="0"/>
          </a:p>
        </p:txBody>
      </p:sp>
      <p:sp>
        <p:nvSpPr>
          <p:cNvPr id="105" name="תיבת טקסט 104">
            <a:extLst>
              <a:ext uri="{FF2B5EF4-FFF2-40B4-BE49-F238E27FC236}">
                <a16:creationId xmlns:a16="http://schemas.microsoft.com/office/drawing/2014/main" id="{406751FF-D5F1-6E0E-87C3-A80EF2DE6A6B}"/>
              </a:ext>
            </a:extLst>
          </p:cNvPr>
          <p:cNvSpPr txBox="1"/>
          <p:nvPr/>
        </p:nvSpPr>
        <p:spPr>
          <a:xfrm>
            <a:off x="5673093" y="3295569"/>
            <a:ext cx="5141647" cy="20765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171450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1100" b="1" dirty="0"/>
              <a:t>Poor Generalization: </a:t>
            </a:r>
            <a:r>
              <a:rPr lang="en-US" sz="1100" dirty="0"/>
              <a:t>The model achieved only ~53% validation accuracy, essentially performing slightly better than a random guess.</a:t>
            </a:r>
          </a:p>
          <a:p>
            <a:pPr marL="171450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1100" b="1" dirty="0"/>
              <a:t>Massive False Positives: </a:t>
            </a:r>
            <a:r>
              <a:rPr lang="en-US" sz="1100" dirty="0"/>
              <a:t>The Confusion Matrix reveals a severe bias towards the 'Violence' class, misclassifying </a:t>
            </a:r>
            <a:r>
              <a:rPr lang="en-US" sz="1100" u="sng" dirty="0"/>
              <a:t>437 out of 471 </a:t>
            </a:r>
            <a:r>
              <a:rPr lang="en-US" sz="1100" dirty="0"/>
              <a:t>routine videos as violent.</a:t>
            </a:r>
          </a:p>
          <a:p>
            <a:pPr marL="171450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1100" b="1" dirty="0"/>
              <a:t>Conclusion: </a:t>
            </a:r>
            <a:r>
              <a:rPr lang="en-US" sz="1100" dirty="0"/>
              <a:t>The low F1-Score (0.67) proves this architecture cannot balance true detections and false alarms. A unified, multi-scale model is mandatory.</a:t>
            </a:r>
            <a:endParaRPr lang="he-IL" sz="1100" dirty="0"/>
          </a:p>
        </p:txBody>
      </p:sp>
      <p:sp>
        <p:nvSpPr>
          <p:cNvPr id="106" name="Shape 84">
            <a:extLst>
              <a:ext uri="{FF2B5EF4-FFF2-40B4-BE49-F238E27FC236}">
                <a16:creationId xmlns:a16="http://schemas.microsoft.com/office/drawing/2014/main" id="{8C9A3D12-AFEA-E518-F643-4AB7502870EA}"/>
              </a:ext>
            </a:extLst>
          </p:cNvPr>
          <p:cNvSpPr/>
          <p:nvPr/>
        </p:nvSpPr>
        <p:spPr>
          <a:xfrm>
            <a:off x="5477476" y="1614026"/>
            <a:ext cx="1173479" cy="987552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chemeClr val="accent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07" name="Text 85">
            <a:extLst>
              <a:ext uri="{FF2B5EF4-FFF2-40B4-BE49-F238E27FC236}">
                <a16:creationId xmlns:a16="http://schemas.microsoft.com/office/drawing/2014/main" id="{C287C87F-FF57-8290-FE03-3849061E6911}"/>
              </a:ext>
            </a:extLst>
          </p:cNvPr>
          <p:cNvSpPr/>
          <p:nvPr/>
        </p:nvSpPr>
        <p:spPr>
          <a:xfrm>
            <a:off x="5561077" y="1818254"/>
            <a:ext cx="1009738" cy="331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52.6%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8" name="Text 86">
            <a:extLst>
              <a:ext uri="{FF2B5EF4-FFF2-40B4-BE49-F238E27FC236}">
                <a16:creationId xmlns:a16="http://schemas.microsoft.com/office/drawing/2014/main" id="{7BAC752C-8342-7A81-880C-7A8512B58FDD}"/>
              </a:ext>
            </a:extLst>
          </p:cNvPr>
          <p:cNvSpPr/>
          <p:nvPr/>
        </p:nvSpPr>
        <p:spPr>
          <a:xfrm>
            <a:off x="5615941" y="2299826"/>
            <a:ext cx="927867" cy="260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C5A6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Accuracy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9" name="Shape 87">
            <a:extLst>
              <a:ext uri="{FF2B5EF4-FFF2-40B4-BE49-F238E27FC236}">
                <a16:creationId xmlns:a16="http://schemas.microsoft.com/office/drawing/2014/main" id="{2CE5B139-349C-DA3B-36ED-CAFB06B8D531}"/>
              </a:ext>
            </a:extLst>
          </p:cNvPr>
          <p:cNvSpPr/>
          <p:nvPr/>
        </p:nvSpPr>
        <p:spPr>
          <a:xfrm>
            <a:off x="9787350" y="1614026"/>
            <a:ext cx="1173479" cy="987552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chemeClr val="accent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10" name="Text 88">
            <a:extLst>
              <a:ext uri="{FF2B5EF4-FFF2-40B4-BE49-F238E27FC236}">
                <a16:creationId xmlns:a16="http://schemas.microsoft.com/office/drawing/2014/main" id="{14423A63-6A29-2125-CC55-DE2A18A53987}"/>
              </a:ext>
            </a:extLst>
          </p:cNvPr>
          <p:cNvSpPr/>
          <p:nvPr/>
        </p:nvSpPr>
        <p:spPr>
          <a:xfrm>
            <a:off x="9870951" y="1818254"/>
            <a:ext cx="1009738" cy="331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67.4%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1" name="Text 89">
            <a:extLst>
              <a:ext uri="{FF2B5EF4-FFF2-40B4-BE49-F238E27FC236}">
                <a16:creationId xmlns:a16="http://schemas.microsoft.com/office/drawing/2014/main" id="{F280E05B-46B2-89C4-CA90-CF214C8C2DDA}"/>
              </a:ext>
            </a:extLst>
          </p:cNvPr>
          <p:cNvSpPr/>
          <p:nvPr/>
        </p:nvSpPr>
        <p:spPr>
          <a:xfrm>
            <a:off x="9925815" y="2299826"/>
            <a:ext cx="927867" cy="260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C5A6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F1-score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2" name="Shape 90">
            <a:extLst>
              <a:ext uri="{FF2B5EF4-FFF2-40B4-BE49-F238E27FC236}">
                <a16:creationId xmlns:a16="http://schemas.microsoft.com/office/drawing/2014/main" id="{FE630A50-0E41-B213-2C49-A4812071049D}"/>
              </a:ext>
            </a:extLst>
          </p:cNvPr>
          <p:cNvSpPr/>
          <p:nvPr/>
        </p:nvSpPr>
        <p:spPr>
          <a:xfrm>
            <a:off x="6914101" y="1614026"/>
            <a:ext cx="1173479" cy="987552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chemeClr val="accent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13" name="Text 91">
            <a:extLst>
              <a:ext uri="{FF2B5EF4-FFF2-40B4-BE49-F238E27FC236}">
                <a16:creationId xmlns:a16="http://schemas.microsoft.com/office/drawing/2014/main" id="{06A57E89-07CB-7817-EE9C-3CAE65EF7C22}"/>
              </a:ext>
            </a:extLst>
          </p:cNvPr>
          <p:cNvSpPr/>
          <p:nvPr/>
        </p:nvSpPr>
        <p:spPr>
          <a:xfrm>
            <a:off x="7034805" y="1818254"/>
            <a:ext cx="1009738" cy="331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51.3%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4" name="Text 92">
            <a:extLst>
              <a:ext uri="{FF2B5EF4-FFF2-40B4-BE49-F238E27FC236}">
                <a16:creationId xmlns:a16="http://schemas.microsoft.com/office/drawing/2014/main" id="{DCC9C36E-5721-0EAD-CB66-681B7791B4B3}"/>
              </a:ext>
            </a:extLst>
          </p:cNvPr>
          <p:cNvSpPr/>
          <p:nvPr/>
        </p:nvSpPr>
        <p:spPr>
          <a:xfrm>
            <a:off x="7059417" y="2299826"/>
            <a:ext cx="927867" cy="260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C5A6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Precision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5" name="Shape 93">
            <a:extLst>
              <a:ext uri="{FF2B5EF4-FFF2-40B4-BE49-F238E27FC236}">
                <a16:creationId xmlns:a16="http://schemas.microsoft.com/office/drawing/2014/main" id="{E32DFCBC-9E86-8ADB-2E65-E00C834C0F7A}"/>
              </a:ext>
            </a:extLst>
          </p:cNvPr>
          <p:cNvSpPr/>
          <p:nvPr/>
        </p:nvSpPr>
        <p:spPr>
          <a:xfrm>
            <a:off x="8350726" y="1614026"/>
            <a:ext cx="1173479" cy="987552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chemeClr val="accent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16" name="Text 94">
            <a:extLst>
              <a:ext uri="{FF2B5EF4-FFF2-40B4-BE49-F238E27FC236}">
                <a16:creationId xmlns:a16="http://schemas.microsoft.com/office/drawing/2014/main" id="{57A194D2-10C6-A7A8-D35B-9E1721DD5A24}"/>
              </a:ext>
            </a:extLst>
          </p:cNvPr>
          <p:cNvSpPr/>
          <p:nvPr/>
        </p:nvSpPr>
        <p:spPr>
          <a:xfrm>
            <a:off x="8456251" y="1818254"/>
            <a:ext cx="1009738" cy="331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202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98.1%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7" name="Text 95">
            <a:extLst>
              <a:ext uri="{FF2B5EF4-FFF2-40B4-BE49-F238E27FC236}">
                <a16:creationId xmlns:a16="http://schemas.microsoft.com/office/drawing/2014/main" id="{EF125341-B774-15D2-B4C3-17720BFEB7FD}"/>
              </a:ext>
            </a:extLst>
          </p:cNvPr>
          <p:cNvSpPr/>
          <p:nvPr/>
        </p:nvSpPr>
        <p:spPr>
          <a:xfrm>
            <a:off x="8448407" y="2299826"/>
            <a:ext cx="927867" cy="260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C5A6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Recall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4119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Architecture: MViT V2 S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Multi-scale Vision Transformer for spatial and temporal understanding.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MODEL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595200" y="2277000"/>
            <a:ext cx="2304000" cy="2304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1" name="Text 69"/>
          <p:cNvSpPr/>
          <p:nvPr/>
        </p:nvSpPr>
        <p:spPr>
          <a:xfrm>
            <a:off x="832800" y="2441450"/>
            <a:ext cx="18288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7395C"/>
                </a:solidFill>
              </a:rPr>
              <a:t>1. </a:t>
            </a:r>
            <a:r>
              <a:rPr lang="en-US" sz="1200" b="1" dirty="0">
                <a:solidFill>
                  <a:srgbClr val="18202A"/>
                </a:solidFill>
              </a:rPr>
              <a:t>Preprocessed Clip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395C"/>
                </a:solidFill>
              </a:rPr>
              <a:t> 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1261872" y="22951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015680" y="2715768"/>
            <a:ext cx="14630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C5A66"/>
                </a:solidFill>
              </a:rPr>
              <a:t>Ordered frame sequence representing a short video segment.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498420" y="2277000"/>
            <a:ext cx="2304000" cy="23040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240">
            <a:solidFill>
              <a:srgbClr val="15834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5" name="Text 73"/>
          <p:cNvSpPr/>
          <p:nvPr/>
        </p:nvSpPr>
        <p:spPr>
          <a:xfrm>
            <a:off x="4006320" y="2404873"/>
            <a:ext cx="12882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5834F"/>
                </a:solidFill>
              </a:rPr>
              <a:t>2. </a:t>
            </a:r>
            <a:r>
              <a:rPr lang="en-US" sz="1200" b="1" dirty="0" err="1">
                <a:solidFill>
                  <a:srgbClr val="18202A"/>
                </a:solidFill>
              </a:rPr>
              <a:t>MViT</a:t>
            </a:r>
            <a:r>
              <a:rPr lang="en-US" sz="1200" b="1" dirty="0">
                <a:solidFill>
                  <a:srgbClr val="18202A"/>
                </a:solidFill>
              </a:rPr>
              <a:t> V2 S</a:t>
            </a:r>
            <a:endParaRPr lang="en-US" sz="12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3690300" y="2715768"/>
            <a:ext cx="19202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C5A66"/>
                </a:solidFill>
              </a:rPr>
              <a:t>Multi-scale attention captures patterns at different spatial and temporal resolutions.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393600" y="2277000"/>
            <a:ext cx="2304000" cy="2304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C23B8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9" name="Text 77"/>
          <p:cNvSpPr/>
          <p:nvPr/>
        </p:nvSpPr>
        <p:spPr>
          <a:xfrm>
            <a:off x="6937526" y="2375715"/>
            <a:ext cx="1216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C23B83"/>
                </a:solidFill>
              </a:rPr>
              <a:t>3. </a:t>
            </a:r>
            <a:r>
              <a:rPr lang="en-US" sz="1200" b="1" dirty="0">
                <a:solidFill>
                  <a:srgbClr val="18202A"/>
                </a:solidFill>
              </a:rPr>
              <a:t>Binary Head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7616952" y="22951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699780" y="2674621"/>
            <a:ext cx="16916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Outputs a probability score for Violence vs Non-Violence.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9292800" y="2277000"/>
            <a:ext cx="2304000" cy="2304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F3A21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3" name="Text 81"/>
          <p:cNvSpPr/>
          <p:nvPr/>
        </p:nvSpPr>
        <p:spPr>
          <a:xfrm>
            <a:off x="9960180" y="2286000"/>
            <a:ext cx="108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3A21B"/>
                </a:solidFill>
              </a:rPr>
              <a:t>4. </a:t>
            </a:r>
            <a:r>
              <a:rPr lang="en-US" sz="1200" b="1" dirty="0">
                <a:solidFill>
                  <a:srgbClr val="18202A"/>
                </a:solidFill>
              </a:rPr>
              <a:t>Decision</a:t>
            </a:r>
            <a:r>
              <a:rPr lang="en-US" sz="1400" b="1" dirty="0">
                <a:solidFill>
                  <a:srgbClr val="F3A21B"/>
                </a:solidFill>
              </a:rPr>
              <a:t> 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10588752" y="22951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9525841" y="2715768"/>
            <a:ext cx="1949879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C5A66"/>
                </a:solidFill>
              </a:rPr>
              <a:t>Threshold converts probability into 0/1 label.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1188720" y="5074920"/>
            <a:ext cx="9692640" cy="658368"/>
          </a:xfrm>
          <a:prstGeom prst="roundRect">
            <a:avLst>
              <a:gd name="adj" fmla="val 11111"/>
            </a:avLst>
          </a:pr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2FBF71"/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87" name="Text 85"/>
          <p:cNvSpPr/>
          <p:nvPr/>
        </p:nvSpPr>
        <p:spPr>
          <a:xfrm>
            <a:off x="1508760" y="5285232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9866F"/>
                </a:solidFill>
              </a:rPr>
              <a:t>Why it fits the task: violence is defined by how bodies move over time, not only by what appears in one frame.</a:t>
            </a:r>
            <a:endParaRPr lang="en-US" sz="1050" dirty="0">
              <a:solidFill>
                <a:srgbClr val="59866F"/>
              </a:solidFill>
            </a:endParaRPr>
          </a:p>
        </p:txBody>
      </p:sp>
      <p:sp>
        <p:nvSpPr>
          <p:cNvPr id="88" name="Shape 86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9" name="Text 87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14</a:t>
            </a:r>
            <a:endParaRPr lang="en-US" sz="900" dirty="0"/>
          </a:p>
        </p:txBody>
      </p:sp>
      <p:cxnSp>
        <p:nvCxnSpPr>
          <p:cNvPr id="94" name="מחבר חץ ישר 93">
            <a:extLst>
              <a:ext uri="{FF2B5EF4-FFF2-40B4-BE49-F238E27FC236}">
                <a16:creationId xmlns:a16="http://schemas.microsoft.com/office/drawing/2014/main" id="{6A05CB7C-D0C9-2D88-0BAE-230BB42CD5ED}"/>
              </a:ext>
            </a:extLst>
          </p:cNvPr>
          <p:cNvCxnSpPr>
            <a:stCxn id="70" idx="3"/>
            <a:endCxn id="74" idx="1"/>
          </p:cNvCxnSpPr>
          <p:nvPr/>
        </p:nvCxnSpPr>
        <p:spPr>
          <a:xfrm>
            <a:off x="2899200" y="3429000"/>
            <a:ext cx="59922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מחבר חץ ישר 95">
            <a:extLst>
              <a:ext uri="{FF2B5EF4-FFF2-40B4-BE49-F238E27FC236}">
                <a16:creationId xmlns:a16="http://schemas.microsoft.com/office/drawing/2014/main" id="{DE00AE79-AD93-22FA-5448-83E80D1908CD}"/>
              </a:ext>
            </a:extLst>
          </p:cNvPr>
          <p:cNvCxnSpPr>
            <a:stCxn id="74" idx="3"/>
            <a:endCxn id="78" idx="1"/>
          </p:cNvCxnSpPr>
          <p:nvPr/>
        </p:nvCxnSpPr>
        <p:spPr>
          <a:xfrm>
            <a:off x="5802420" y="3429000"/>
            <a:ext cx="59118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מחבר חץ ישר 97">
            <a:extLst>
              <a:ext uri="{FF2B5EF4-FFF2-40B4-BE49-F238E27FC236}">
                <a16:creationId xmlns:a16="http://schemas.microsoft.com/office/drawing/2014/main" id="{0479C4D6-E527-4C46-55B5-E54589549461}"/>
              </a:ext>
            </a:extLst>
          </p:cNvPr>
          <p:cNvCxnSpPr>
            <a:stCxn id="78" idx="3"/>
            <a:endCxn id="82" idx="1"/>
          </p:cNvCxnSpPr>
          <p:nvPr/>
        </p:nvCxnSpPr>
        <p:spPr>
          <a:xfrm>
            <a:off x="8697600" y="3429000"/>
            <a:ext cx="59520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6FDB9-F5FF-2F46-97B0-530A4AF9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55B151-3EFB-8739-36EA-A3C81F634000}"/>
              </a:ext>
            </a:extLst>
          </p:cNvPr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33698D-6F07-3C45-F8FE-5EFEAB8682B2}"/>
              </a:ext>
            </a:extLst>
          </p:cNvPr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17700BA-43E9-D32B-6801-4B468C9F4D8A}"/>
              </a:ext>
            </a:extLst>
          </p:cNvPr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FB0987A-2CB5-B23B-C50C-78C8915A23CD}"/>
              </a:ext>
            </a:extLst>
          </p:cNvPr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6E73345-3A95-7536-4E0D-600575873D60}"/>
              </a:ext>
            </a:extLst>
          </p:cNvPr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69B79AA-2BDF-499A-8BE6-42FAE6F765B8}"/>
              </a:ext>
            </a:extLst>
          </p:cNvPr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5A4FCDE-FD9A-15B6-ECA7-7AE84207F714}"/>
              </a:ext>
            </a:extLst>
          </p:cNvPr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726BF77-B9C2-A638-833C-1EFB4938A834}"/>
              </a:ext>
            </a:extLst>
          </p:cNvPr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A49F070-EE18-B22A-4DE4-881893102F86}"/>
              </a:ext>
            </a:extLst>
          </p:cNvPr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F810CDE-1EC2-5142-177D-1D787233D87A}"/>
              </a:ext>
            </a:extLst>
          </p:cNvPr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24C5ED1-F42D-8D59-A229-2042A3DD043C}"/>
              </a:ext>
            </a:extLst>
          </p:cNvPr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649A676-3AB6-5403-6C1B-85A26080C1EF}"/>
              </a:ext>
            </a:extLst>
          </p:cNvPr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292B087-06A6-E82C-8710-DBAC9C0AF11B}"/>
              </a:ext>
            </a:extLst>
          </p:cNvPr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ADDFF13-6618-1014-C572-768564763EFE}"/>
              </a:ext>
            </a:extLst>
          </p:cNvPr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D592FCF-34C9-D347-CDBB-12486210BE25}"/>
              </a:ext>
            </a:extLst>
          </p:cNvPr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07F1D9B-BD73-5B3B-E7AD-1B095603937E}"/>
              </a:ext>
            </a:extLst>
          </p:cNvPr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0683ADE-538E-686D-9620-3D3A0D5360DD}"/>
              </a:ext>
            </a:extLst>
          </p:cNvPr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A9326B7-0B57-1CE6-DC93-2A15CA807C45}"/>
              </a:ext>
            </a:extLst>
          </p:cNvPr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7460786-843C-3E70-8351-F689E649567F}"/>
              </a:ext>
            </a:extLst>
          </p:cNvPr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B4784E2-0047-5C02-2713-2BA95438F2D9}"/>
              </a:ext>
            </a:extLst>
          </p:cNvPr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BF02D6A-5C4C-8222-CB33-1311C527ECC3}"/>
              </a:ext>
            </a:extLst>
          </p:cNvPr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6F6ECA7-360A-4FB8-DE45-A1659339ED22}"/>
              </a:ext>
            </a:extLst>
          </p:cNvPr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5F8024A-76A0-BD2D-5D0B-2B13B20704E8}"/>
              </a:ext>
            </a:extLst>
          </p:cNvPr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E4B8B7D-4E25-CCCE-80F6-301523DCD653}"/>
              </a:ext>
            </a:extLst>
          </p:cNvPr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354CA36-A537-EC53-0730-5587B2DFED36}"/>
              </a:ext>
            </a:extLst>
          </p:cNvPr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5768274-C8DD-0FE3-AFD3-20AB3C31A67E}"/>
              </a:ext>
            </a:extLst>
          </p:cNvPr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D93EAFA-87AC-6FA8-9CF4-C817C0A81EAF}"/>
              </a:ext>
            </a:extLst>
          </p:cNvPr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AA6B443-2700-DC19-916C-24B185FFC3B7}"/>
              </a:ext>
            </a:extLst>
          </p:cNvPr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3361D58-8986-E75F-C07B-767A4D31A576}"/>
              </a:ext>
            </a:extLst>
          </p:cNvPr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831F225-EF8E-E1DA-50D0-F9EB3CEC247A}"/>
              </a:ext>
            </a:extLst>
          </p:cNvPr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482EA6A-7E20-A793-537B-F798AA5D4273}"/>
              </a:ext>
            </a:extLst>
          </p:cNvPr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174C0017-19F2-C55B-B0BF-8BC7948CC7A6}"/>
              </a:ext>
            </a:extLst>
          </p:cNvPr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B3A8A8D-ADFA-49C5-5CE3-194583D8E507}"/>
              </a:ext>
            </a:extLst>
          </p:cNvPr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62A41D5-E057-3016-7019-25E32B9EBDAC}"/>
              </a:ext>
            </a:extLst>
          </p:cNvPr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E57219B-9267-728D-E6DE-7FDC2AF2EA06}"/>
              </a:ext>
            </a:extLst>
          </p:cNvPr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1AE8291E-AECA-F323-0A69-585FD2046DD0}"/>
              </a:ext>
            </a:extLst>
          </p:cNvPr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A64F0AF-E33B-BE38-79BE-559812D57943}"/>
              </a:ext>
            </a:extLst>
          </p:cNvPr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86889963-A425-AFEB-1607-8FB28C74A88F}"/>
              </a:ext>
            </a:extLst>
          </p:cNvPr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EEF6B128-C606-17C3-D854-A974D9A519AB}"/>
              </a:ext>
            </a:extLst>
          </p:cNvPr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321EDBA0-D4E5-DDF1-E941-E8AF991A59A0}"/>
              </a:ext>
            </a:extLst>
          </p:cNvPr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45AEC6C-4553-8A62-2A16-FA2C1905E2C4}"/>
              </a:ext>
            </a:extLst>
          </p:cNvPr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6F913933-9A9E-12A6-6423-6B4E3DEB0871}"/>
              </a:ext>
            </a:extLst>
          </p:cNvPr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72CAB7CF-1575-8F15-A7DA-D89F101AAA0B}"/>
              </a:ext>
            </a:extLst>
          </p:cNvPr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1B35CE63-3087-90EC-73B2-90C246156278}"/>
              </a:ext>
            </a:extLst>
          </p:cNvPr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4190CAF7-E13C-1C44-8B30-B2BA01FAFBC8}"/>
              </a:ext>
            </a:extLst>
          </p:cNvPr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D5872B5-EB3D-7621-CB6A-6972F868AC4B}"/>
              </a:ext>
            </a:extLst>
          </p:cNvPr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44A0BD2-BAD4-5704-DB0D-C4512FC79E2B}"/>
              </a:ext>
            </a:extLst>
          </p:cNvPr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5CEB3DB6-EFDC-14EE-8B17-EC0E380BED5F}"/>
              </a:ext>
            </a:extLst>
          </p:cNvPr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25854BCB-4D4D-3800-384A-6F6E1F7B86A0}"/>
              </a:ext>
            </a:extLst>
          </p:cNvPr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BF2A6095-B073-8EE1-0553-EB8FC69CECFE}"/>
              </a:ext>
            </a:extLst>
          </p:cNvPr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9466AB69-1E5E-541F-FDE1-E9D3A06C48A1}"/>
              </a:ext>
            </a:extLst>
          </p:cNvPr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0629CF21-FC90-51E0-55A0-F5AEBC565987}"/>
              </a:ext>
            </a:extLst>
          </p:cNvPr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D4741CDC-B67E-1CFE-2D27-ACABFC252578}"/>
              </a:ext>
            </a:extLst>
          </p:cNvPr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FE83D7E-A261-875A-6EE6-F37F23CE9171}"/>
              </a:ext>
            </a:extLst>
          </p:cNvPr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A103B9CB-C42A-4CA9-D269-9FB9C0C1C1E4}"/>
              </a:ext>
            </a:extLst>
          </p:cNvPr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181FBCDE-3B67-6408-A557-E1E557CAAA1D}"/>
              </a:ext>
            </a:extLst>
          </p:cNvPr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152A0A5E-4A56-CD72-84EE-2EE4DAC0335B}"/>
              </a:ext>
            </a:extLst>
          </p:cNvPr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23030DF2-0FE5-5F15-64AD-08E941E5FD89}"/>
              </a:ext>
            </a:extLst>
          </p:cNvPr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C0372EDB-5071-2D5C-57EB-8946170A18B3}"/>
              </a:ext>
            </a:extLst>
          </p:cNvPr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93862B3F-45F2-0ACA-8DB1-45803CF2EF47}"/>
              </a:ext>
            </a:extLst>
          </p:cNvPr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40C3E5E6-D28B-DC99-2270-3B08B28E92D3}"/>
              </a:ext>
            </a:extLst>
          </p:cNvPr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45817F57-D838-423C-A99B-15969B82E3D6}"/>
              </a:ext>
            </a:extLst>
          </p:cNvPr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Unified Solution: Multi-scale Vision Transformer</a:t>
            </a: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57D0781C-2D99-1A6D-3744-EAFC8D2262C1}"/>
              </a:ext>
            </a:extLst>
          </p:cNvPr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Shifting to </a:t>
            </a:r>
            <a:r>
              <a:rPr lang="en-US" sz="1050" dirty="0" err="1">
                <a:solidFill>
                  <a:srgbClr val="4C5A66"/>
                </a:solidFill>
              </a:rPr>
              <a:t>MViT</a:t>
            </a:r>
            <a:r>
              <a:rPr lang="en-US" sz="1050" dirty="0">
                <a:solidFill>
                  <a:srgbClr val="4C5A66"/>
                </a:solidFill>
              </a:rPr>
              <a:t> V2 S for simultaneous spatial-temporal attention.</a:t>
            </a: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F67814AC-9BC5-8572-A8E0-B22F1167BEFC}"/>
              </a:ext>
            </a:extLst>
          </p:cNvPr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90F6C86F-1A36-1FAE-6786-C1466EA55800}"/>
              </a:ext>
            </a:extLst>
          </p:cNvPr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MODEL</a:t>
            </a:r>
            <a:endParaRPr lang="en-US" sz="760" dirty="0"/>
          </a:p>
        </p:txBody>
      </p:sp>
      <p:sp>
        <p:nvSpPr>
          <p:cNvPr id="128" name="מלבן: פינות מעוגלות 127">
            <a:extLst>
              <a:ext uri="{FF2B5EF4-FFF2-40B4-BE49-F238E27FC236}">
                <a16:creationId xmlns:a16="http://schemas.microsoft.com/office/drawing/2014/main" id="{ED2740A0-5D9D-C570-A17C-55D7AE09B94E}"/>
              </a:ext>
            </a:extLst>
          </p:cNvPr>
          <p:cNvSpPr/>
          <p:nvPr/>
        </p:nvSpPr>
        <p:spPr>
          <a:xfrm>
            <a:off x="7971719" y="1404917"/>
            <a:ext cx="3960000" cy="468000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5" name="מלבן: פינות מעוגלות 124">
            <a:extLst>
              <a:ext uri="{FF2B5EF4-FFF2-40B4-BE49-F238E27FC236}">
                <a16:creationId xmlns:a16="http://schemas.microsoft.com/office/drawing/2014/main" id="{8B37267F-C726-E6F4-B372-C83FC81A68E2}"/>
              </a:ext>
            </a:extLst>
          </p:cNvPr>
          <p:cNvSpPr/>
          <p:nvPr/>
        </p:nvSpPr>
        <p:spPr>
          <a:xfrm>
            <a:off x="401503" y="1404917"/>
            <a:ext cx="3960000" cy="468000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937A78C4-BA16-2CCB-4B9B-214BBEBDBA4B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8" name="תיבת טקסט 67">
            <a:extLst>
              <a:ext uri="{FF2B5EF4-FFF2-40B4-BE49-F238E27FC236}">
                <a16:creationId xmlns:a16="http://schemas.microsoft.com/office/drawing/2014/main" id="{A3688199-5102-05A9-2B3F-9F4003E720BC}"/>
              </a:ext>
            </a:extLst>
          </p:cNvPr>
          <p:cNvSpPr txBox="1"/>
          <p:nvPr/>
        </p:nvSpPr>
        <p:spPr>
          <a:xfrm>
            <a:off x="320040" y="1667753"/>
            <a:ext cx="4122927" cy="415432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1" anchor="ctr">
            <a:spAutoFit/>
          </a:bodyPr>
          <a:lstStyle/>
          <a:p>
            <a:r>
              <a:rPr lang="en-US" sz="1400" b="1" dirty="0"/>
              <a:t>Unified Attention:</a:t>
            </a:r>
            <a:r>
              <a:rPr lang="en-US" sz="1200" b="1" dirty="0"/>
              <a:t> </a:t>
            </a:r>
          </a:p>
          <a:p>
            <a:r>
              <a:rPr lang="en-US" sz="1200" dirty="0"/>
              <a:t>Unlike our baseline ResNet-LSTM approach, </a:t>
            </a:r>
            <a:r>
              <a:rPr lang="en-US" sz="1200" dirty="0" err="1"/>
              <a:t>MViT</a:t>
            </a:r>
            <a:r>
              <a:rPr lang="en-US" sz="1200" dirty="0"/>
              <a:t> processes spatial (pixels) and temporal (frames) dimensions simultaneously via 3D Self-Attention.</a:t>
            </a:r>
          </a:p>
          <a:p>
            <a:endParaRPr lang="en-US" sz="1200" dirty="0"/>
          </a:p>
          <a:p>
            <a:r>
              <a:rPr lang="en-US" sz="1400" b="1" dirty="0"/>
              <a:t>Multi-Scale Hierarchy: </a:t>
            </a:r>
          </a:p>
          <a:p>
            <a:r>
              <a:rPr lang="en-US" sz="1200" dirty="0"/>
              <a:t>The model builds feature maps of increasing complexity, learning everything from fine-grained edge detection to global body motion patterns.</a:t>
            </a:r>
          </a:p>
          <a:p>
            <a:endParaRPr lang="en-US" sz="1200" dirty="0"/>
          </a:p>
          <a:p>
            <a:r>
              <a:rPr lang="en-US" sz="1400" b="1" dirty="0"/>
              <a:t>Smart Transfer Learning: </a:t>
            </a:r>
          </a:p>
          <a:p>
            <a:r>
              <a:rPr lang="en-US" sz="1200" dirty="0"/>
              <a:t>We initialized the model with Kinetics-400 pre-trained weights.</a:t>
            </a:r>
          </a:p>
          <a:p>
            <a:endParaRPr lang="en-US" sz="1200" dirty="0"/>
          </a:p>
          <a:p>
            <a:r>
              <a:rPr lang="en-US" sz="1400" dirty="0"/>
              <a:t>By </a:t>
            </a:r>
            <a:r>
              <a:rPr lang="en-US" sz="1400" b="1" dirty="0"/>
              <a:t>freezing the early feature-extraction layers</a:t>
            </a:r>
            <a:r>
              <a:rPr lang="en-US" sz="1400" dirty="0"/>
              <a:t> </a:t>
            </a:r>
            <a:r>
              <a:rPr lang="en-US" sz="1200" dirty="0"/>
              <a:t>(which already recognize objects and human figures), we only trained the final layers to specifically classify "Violence." This saved massive compute time and prevented overfitting.</a:t>
            </a:r>
            <a:endParaRPr lang="en-US" sz="1400" dirty="0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295ADC6E-9B2E-B350-DBCC-827A92C0F0E3}"/>
              </a:ext>
            </a:extLst>
          </p:cNvPr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5978FFCD-3C44-C364-9EA6-3CB6B310F767}"/>
              </a:ext>
            </a:extLst>
          </p:cNvPr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15</a:t>
            </a:r>
            <a:endParaRPr lang="en-US" sz="900" dirty="0"/>
          </a:p>
        </p:txBody>
      </p:sp>
      <p:sp>
        <p:nvSpPr>
          <p:cNvPr id="75" name="מלבן 74">
            <a:extLst>
              <a:ext uri="{FF2B5EF4-FFF2-40B4-BE49-F238E27FC236}">
                <a16:creationId xmlns:a16="http://schemas.microsoft.com/office/drawing/2014/main" id="{EE2D22D6-6092-F3A9-1996-9BFC93B7F8EF}"/>
              </a:ext>
            </a:extLst>
          </p:cNvPr>
          <p:cNvSpPr/>
          <p:nvPr/>
        </p:nvSpPr>
        <p:spPr>
          <a:xfrm>
            <a:off x="4883092" y="2862307"/>
            <a:ext cx="2376000" cy="612645"/>
          </a:xfrm>
          <a:prstGeom prst="rect">
            <a:avLst/>
          </a:prstGeom>
          <a:solidFill>
            <a:schemeClr val="bg1"/>
          </a:solidFill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Blocks 0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(Cube embedding)</a:t>
            </a:r>
          </a:p>
        </p:txBody>
      </p:sp>
      <p:sp>
        <p:nvSpPr>
          <p:cNvPr id="90" name="מלבן 89">
            <a:extLst>
              <a:ext uri="{FF2B5EF4-FFF2-40B4-BE49-F238E27FC236}">
                <a16:creationId xmlns:a16="http://schemas.microsoft.com/office/drawing/2014/main" id="{ABFDD5ED-25BA-F793-E7F4-0756ADD9D4E9}"/>
              </a:ext>
            </a:extLst>
          </p:cNvPr>
          <p:cNvSpPr/>
          <p:nvPr/>
        </p:nvSpPr>
        <p:spPr>
          <a:xfrm>
            <a:off x="4895792" y="3778233"/>
            <a:ext cx="2376000" cy="612645"/>
          </a:xfrm>
          <a:prstGeom prst="rect">
            <a:avLst/>
          </a:prstGeom>
          <a:solidFill>
            <a:schemeClr val="bg1"/>
          </a:solidFill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Blocks 1-13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(Spatial-temporal attention)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92" name="קבוצה 91">
            <a:extLst>
              <a:ext uri="{FF2B5EF4-FFF2-40B4-BE49-F238E27FC236}">
                <a16:creationId xmlns:a16="http://schemas.microsoft.com/office/drawing/2014/main" id="{33FD7C6D-9E82-DE4A-82C7-999F65083D7E}"/>
              </a:ext>
            </a:extLst>
          </p:cNvPr>
          <p:cNvGrpSpPr/>
          <p:nvPr/>
        </p:nvGrpSpPr>
        <p:grpSpPr>
          <a:xfrm>
            <a:off x="4883092" y="1946381"/>
            <a:ext cx="2376000" cy="612645"/>
            <a:chOff x="7818121" y="3619503"/>
            <a:chExt cx="3813049" cy="612645"/>
          </a:xfrm>
        </p:grpSpPr>
        <p:sp>
          <p:nvSpPr>
            <p:cNvPr id="93" name="מלבן 92">
              <a:extLst>
                <a:ext uri="{FF2B5EF4-FFF2-40B4-BE49-F238E27FC236}">
                  <a16:creationId xmlns:a16="http://schemas.microsoft.com/office/drawing/2014/main" id="{E7C3C8AD-46A2-CBAC-FCAF-1D2CA333D65E}"/>
                </a:ext>
              </a:extLst>
            </p:cNvPr>
            <p:cNvSpPr/>
            <p:nvPr/>
          </p:nvSpPr>
          <p:spPr>
            <a:xfrm>
              <a:off x="7818121" y="3619503"/>
              <a:ext cx="3813049" cy="6126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INPUT</a:t>
              </a:r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16-Frame Tensor (3s)</a:t>
              </a:r>
            </a:p>
          </p:txBody>
        </p:sp>
        <p:pic>
          <p:nvPicPr>
            <p:cNvPr id="94" name="גרפיקה 93" descr="פיסת סרט קולנוע קו מיתאר">
              <a:extLst>
                <a:ext uri="{FF2B5EF4-FFF2-40B4-BE49-F238E27FC236}">
                  <a16:creationId xmlns:a16="http://schemas.microsoft.com/office/drawing/2014/main" id="{A55440A3-3B4E-F6FF-DBBB-FF6A160344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16771" y="3735413"/>
              <a:ext cx="369218" cy="369218"/>
            </a:xfrm>
            <a:prstGeom prst="rect">
              <a:avLst/>
            </a:prstGeom>
          </p:spPr>
        </p:pic>
      </p:grpSp>
      <p:sp>
        <p:nvSpPr>
          <p:cNvPr id="95" name="מלבן 94">
            <a:extLst>
              <a:ext uri="{FF2B5EF4-FFF2-40B4-BE49-F238E27FC236}">
                <a16:creationId xmlns:a16="http://schemas.microsoft.com/office/drawing/2014/main" id="{2FA13958-A5B6-75C3-0687-D1991C39DA3C}"/>
              </a:ext>
            </a:extLst>
          </p:cNvPr>
          <p:cNvSpPr/>
          <p:nvPr/>
        </p:nvSpPr>
        <p:spPr>
          <a:xfrm>
            <a:off x="4895792" y="4694160"/>
            <a:ext cx="2376000" cy="612645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Blocks 14-15</a:t>
            </a:r>
          </a:p>
        </p:txBody>
      </p:sp>
      <p:cxnSp>
        <p:nvCxnSpPr>
          <p:cNvPr id="108" name="מחבר חץ ישר 107">
            <a:extLst>
              <a:ext uri="{FF2B5EF4-FFF2-40B4-BE49-F238E27FC236}">
                <a16:creationId xmlns:a16="http://schemas.microsoft.com/office/drawing/2014/main" id="{495D0F2F-2EDA-9CFD-C027-6D23617C6FF7}"/>
              </a:ext>
            </a:extLst>
          </p:cNvPr>
          <p:cNvCxnSpPr>
            <a:stCxn id="93" idx="2"/>
            <a:endCxn id="75" idx="0"/>
          </p:cNvCxnSpPr>
          <p:nvPr/>
        </p:nvCxnSpPr>
        <p:spPr>
          <a:xfrm>
            <a:off x="6071092" y="2559026"/>
            <a:ext cx="0" cy="303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0" name="מחבר חץ ישר 109">
            <a:extLst>
              <a:ext uri="{FF2B5EF4-FFF2-40B4-BE49-F238E27FC236}">
                <a16:creationId xmlns:a16="http://schemas.microsoft.com/office/drawing/2014/main" id="{23B02804-5DC9-5108-12E1-42C8CDE875B1}"/>
              </a:ext>
            </a:extLst>
          </p:cNvPr>
          <p:cNvCxnSpPr>
            <a:stCxn id="75" idx="2"/>
            <a:endCxn id="90" idx="0"/>
          </p:cNvCxnSpPr>
          <p:nvPr/>
        </p:nvCxnSpPr>
        <p:spPr>
          <a:xfrm>
            <a:off x="6071092" y="3474952"/>
            <a:ext cx="12700" cy="303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2" name="מחבר חץ ישר 111">
            <a:extLst>
              <a:ext uri="{FF2B5EF4-FFF2-40B4-BE49-F238E27FC236}">
                <a16:creationId xmlns:a16="http://schemas.microsoft.com/office/drawing/2014/main" id="{E41DDC9B-3E5C-A501-ECB7-F80ABF8DEF75}"/>
              </a:ext>
            </a:extLst>
          </p:cNvPr>
          <p:cNvCxnSpPr>
            <a:stCxn id="90" idx="2"/>
            <a:endCxn id="95" idx="0"/>
          </p:cNvCxnSpPr>
          <p:nvPr/>
        </p:nvCxnSpPr>
        <p:spPr>
          <a:xfrm>
            <a:off x="6083792" y="4390878"/>
            <a:ext cx="0" cy="303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4" name="מחבר: מרפקי 113">
            <a:extLst>
              <a:ext uri="{FF2B5EF4-FFF2-40B4-BE49-F238E27FC236}">
                <a16:creationId xmlns:a16="http://schemas.microsoft.com/office/drawing/2014/main" id="{A9B6B3DC-16A1-DDE6-EEFE-00BD57E930B6}"/>
              </a:ext>
            </a:extLst>
          </p:cNvPr>
          <p:cNvCxnSpPr>
            <a:cxnSpLocks/>
            <a:stCxn id="75" idx="3"/>
            <a:endCxn id="90" idx="3"/>
          </p:cNvCxnSpPr>
          <p:nvPr/>
        </p:nvCxnSpPr>
        <p:spPr>
          <a:xfrm>
            <a:off x="7259092" y="3168630"/>
            <a:ext cx="12700" cy="915926"/>
          </a:xfrm>
          <a:prstGeom prst="bentConnector3">
            <a:avLst>
              <a:gd name="adj1" fmla="val 1900000"/>
            </a:avLst>
          </a:prstGeom>
          <a:ln w="19050">
            <a:solidFill>
              <a:srgbClr val="00B0F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6" name="תיבת טקסט 115">
            <a:extLst>
              <a:ext uri="{FF2B5EF4-FFF2-40B4-BE49-F238E27FC236}">
                <a16:creationId xmlns:a16="http://schemas.microsoft.com/office/drawing/2014/main" id="{5B9ADAE9-1C5D-5F9D-DF60-708E3A19E451}"/>
              </a:ext>
            </a:extLst>
          </p:cNvPr>
          <p:cNvSpPr txBox="1"/>
          <p:nvPr/>
        </p:nvSpPr>
        <p:spPr>
          <a:xfrm>
            <a:off x="8004882" y="2212583"/>
            <a:ext cx="4043379" cy="30646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1" anchor="ctr">
            <a:spAutoFit/>
          </a:bodyPr>
          <a:lstStyle/>
          <a:p>
            <a:pPr algn="ctr"/>
            <a:r>
              <a:rPr lang="en-US" sz="1400" b="1" dirty="0"/>
              <a:t>Technical Strategy</a:t>
            </a:r>
          </a:p>
          <a:p>
            <a:pPr algn="ctr"/>
            <a:endParaRPr lang="en-US" sz="1400" b="1" dirty="0"/>
          </a:p>
          <a:p>
            <a:r>
              <a:rPr lang="en-US" sz="1400" b="1" dirty="0">
                <a:solidFill>
                  <a:srgbClr val="00B0F0"/>
                </a:solidFill>
              </a:rPr>
              <a:t>Blocks 0-13 Locked: </a:t>
            </a:r>
          </a:p>
          <a:p>
            <a:r>
              <a:rPr lang="en-US" sz="1200" dirty="0"/>
              <a:t>Preservation of spatial-temporal weights pre-trained on Kinetics-400.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C00000"/>
                </a:solidFill>
              </a:rPr>
              <a:t>Blocks 14-15 Unlocked: </a:t>
            </a:r>
          </a:p>
          <a:p>
            <a:r>
              <a:rPr lang="en-US" sz="1200" dirty="0"/>
              <a:t>Adaptive learning of high-level aggression and</a:t>
            </a:r>
          </a:p>
          <a:p>
            <a:r>
              <a:rPr lang="en-US" sz="1200" dirty="0"/>
              <a:t>physical struggle dynamics.</a:t>
            </a:r>
          </a:p>
          <a:p>
            <a:endParaRPr lang="en-US" sz="1400" b="1" dirty="0"/>
          </a:p>
          <a:p>
            <a:r>
              <a:rPr lang="en-US" sz="1400" b="1" dirty="0"/>
              <a:t>Custom Binary Head: </a:t>
            </a:r>
          </a:p>
          <a:p>
            <a:r>
              <a:rPr lang="en-US" sz="1200" dirty="0"/>
              <a:t>Fully trained classifier mapping transformer features to a 0.0-1.0 Violence Probability score.</a:t>
            </a:r>
            <a:endParaRPr lang="en-US" sz="1400" dirty="0"/>
          </a:p>
        </p:txBody>
      </p:sp>
      <p:pic>
        <p:nvPicPr>
          <p:cNvPr id="118" name="גרפיקה 117" descr="פתית שלג קו מיתאר">
            <a:extLst>
              <a:ext uri="{FF2B5EF4-FFF2-40B4-BE49-F238E27FC236}">
                <a16:creationId xmlns:a16="http://schemas.microsoft.com/office/drawing/2014/main" id="{F4403030-09D4-7736-6210-4D438DC322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6432" y="3047765"/>
            <a:ext cx="228600" cy="228600"/>
          </a:xfrm>
          <a:prstGeom prst="rect">
            <a:avLst/>
          </a:prstGeom>
        </p:spPr>
      </p:pic>
      <p:pic>
        <p:nvPicPr>
          <p:cNvPr id="119" name="גרפיקה 118" descr="פתית שלג קו מיתאר">
            <a:extLst>
              <a:ext uri="{FF2B5EF4-FFF2-40B4-BE49-F238E27FC236}">
                <a16:creationId xmlns:a16="http://schemas.microsoft.com/office/drawing/2014/main" id="{7FB52330-5A8C-7C0B-96B3-5510549687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4532" y="3962396"/>
            <a:ext cx="228600" cy="228600"/>
          </a:xfrm>
          <a:prstGeom prst="rect">
            <a:avLst/>
          </a:prstGeom>
        </p:spPr>
      </p:pic>
      <p:pic>
        <p:nvPicPr>
          <p:cNvPr id="121" name="גרפיקה 120" descr="ברק עם מילוי מלא">
            <a:extLst>
              <a:ext uri="{FF2B5EF4-FFF2-40B4-BE49-F238E27FC236}">
                <a16:creationId xmlns:a16="http://schemas.microsoft.com/office/drawing/2014/main" id="{5099A3AE-A782-10B1-FCCA-116434CA23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6258" y="4904232"/>
            <a:ext cx="270735" cy="270735"/>
          </a:xfrm>
          <a:prstGeom prst="rect">
            <a:avLst/>
          </a:prstGeom>
        </p:spPr>
      </p:pic>
      <p:sp>
        <p:nvSpPr>
          <p:cNvPr id="129" name="תיבת טקסט 128">
            <a:extLst>
              <a:ext uri="{FF2B5EF4-FFF2-40B4-BE49-F238E27FC236}">
                <a16:creationId xmlns:a16="http://schemas.microsoft.com/office/drawing/2014/main" id="{60C1F658-A8F6-AE99-DAA7-B59F80F3C441}"/>
              </a:ext>
            </a:extLst>
          </p:cNvPr>
          <p:cNvSpPr txBox="1"/>
          <p:nvPr/>
        </p:nvSpPr>
        <p:spPr>
          <a:xfrm>
            <a:off x="6208537" y="3517963"/>
            <a:ext cx="1125729" cy="2462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000" dirty="0">
                <a:solidFill>
                  <a:srgbClr val="00B0F0"/>
                </a:solidFill>
              </a:rPr>
              <a:t>FROZEN</a:t>
            </a:r>
            <a:endParaRPr lang="he-IL" sz="1000" dirty="0">
              <a:solidFill>
                <a:srgbClr val="00B0F0"/>
              </a:solidFill>
            </a:endParaRPr>
          </a:p>
        </p:txBody>
      </p:sp>
      <p:sp>
        <p:nvSpPr>
          <p:cNvPr id="130" name="תיבת טקסט 129">
            <a:extLst>
              <a:ext uri="{FF2B5EF4-FFF2-40B4-BE49-F238E27FC236}">
                <a16:creationId xmlns:a16="http://schemas.microsoft.com/office/drawing/2014/main" id="{DE4F7273-1514-902A-FCB3-BFD7846D279A}"/>
              </a:ext>
            </a:extLst>
          </p:cNvPr>
          <p:cNvSpPr txBox="1"/>
          <p:nvPr/>
        </p:nvSpPr>
        <p:spPr>
          <a:xfrm>
            <a:off x="6246637" y="5370812"/>
            <a:ext cx="1125729" cy="2462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000" dirty="0">
                <a:solidFill>
                  <a:srgbClr val="C00000"/>
                </a:solidFill>
              </a:rPr>
              <a:t>FINE-TUNING</a:t>
            </a:r>
            <a:endParaRPr lang="he-IL" sz="1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540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6EF7-2A66-F364-394A-52B122AC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0B201B-9EA8-F89D-0E4C-A29EA12BA9BC}"/>
              </a:ext>
            </a:extLst>
          </p:cNvPr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50D956-30D9-430D-9F17-F0C282098B68}"/>
              </a:ext>
            </a:extLst>
          </p:cNvPr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D520EEC-85A4-C7D9-7E76-0DC67CBBA9F1}"/>
              </a:ext>
            </a:extLst>
          </p:cNvPr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CF6A24E-AD4D-530F-EC75-9C051ED927DB}"/>
              </a:ext>
            </a:extLst>
          </p:cNvPr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2585741-CFE7-F97E-8006-007C5F2E72BF}"/>
              </a:ext>
            </a:extLst>
          </p:cNvPr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C89EDB9-F9AB-7204-27F4-BD7C6B730F08}"/>
              </a:ext>
            </a:extLst>
          </p:cNvPr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0BD1EC5-2550-A6B3-28C0-9A9AAB92F969}"/>
              </a:ext>
            </a:extLst>
          </p:cNvPr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9F58241-0BDF-F4F3-E755-7CDC4A255525}"/>
              </a:ext>
            </a:extLst>
          </p:cNvPr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93A03D5-CEB6-EA81-36BA-5FE3E9D8D305}"/>
              </a:ext>
            </a:extLst>
          </p:cNvPr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F18750B-B992-FD8F-979D-CFA73A3037A2}"/>
              </a:ext>
            </a:extLst>
          </p:cNvPr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425DB2E-2E35-49FF-926E-2B1926210E74}"/>
              </a:ext>
            </a:extLst>
          </p:cNvPr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39E1F97-65F5-0996-2B34-60537A46EA12}"/>
              </a:ext>
            </a:extLst>
          </p:cNvPr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E3B70DB-0B86-FF21-30D4-1B2CA9859EDD}"/>
              </a:ext>
            </a:extLst>
          </p:cNvPr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F02A1BA-3B24-CAD1-5F0D-FD3CAA38E72B}"/>
              </a:ext>
            </a:extLst>
          </p:cNvPr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1E24CAF-373F-A9D1-CDF9-BFA4263BE387}"/>
              </a:ext>
            </a:extLst>
          </p:cNvPr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705F1BC-AA12-7C24-344F-27F7437DE644}"/>
              </a:ext>
            </a:extLst>
          </p:cNvPr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751D734-7774-F99D-A604-81AFF1B95F8A}"/>
              </a:ext>
            </a:extLst>
          </p:cNvPr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B4C7B06-0488-13D7-D635-1EB15F7AB8EC}"/>
              </a:ext>
            </a:extLst>
          </p:cNvPr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B955E0D-CB41-E3BD-6CD6-9048F1BF37EC}"/>
              </a:ext>
            </a:extLst>
          </p:cNvPr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649185B-2156-493F-7B5A-39FF2CC8BA7A}"/>
              </a:ext>
            </a:extLst>
          </p:cNvPr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62FD787-0A6F-224A-E9A0-39629CC984DF}"/>
              </a:ext>
            </a:extLst>
          </p:cNvPr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2AA13D2-4011-BDF8-53D9-47733DE50A3B}"/>
              </a:ext>
            </a:extLst>
          </p:cNvPr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322EF32-E1D6-F91F-9DC7-8EF34764E5D4}"/>
              </a:ext>
            </a:extLst>
          </p:cNvPr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4A34DC8-F430-771F-A624-3E0D8B1F0F14}"/>
              </a:ext>
            </a:extLst>
          </p:cNvPr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DBE6CD1-C6BD-AD0F-1FD6-D1FA48F6AE3D}"/>
              </a:ext>
            </a:extLst>
          </p:cNvPr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4F3BA14-5B75-74EF-402F-2473D84FDBD3}"/>
              </a:ext>
            </a:extLst>
          </p:cNvPr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71AD552-C037-D661-70FB-0CB2D6C9163A}"/>
              </a:ext>
            </a:extLst>
          </p:cNvPr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8A359CE-66CB-B7DA-7D1F-D5ECCFE9D90A}"/>
              </a:ext>
            </a:extLst>
          </p:cNvPr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E6EE3D8-090F-FB26-C54F-1AE49DF682B8}"/>
              </a:ext>
            </a:extLst>
          </p:cNvPr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C6C4D1A-64FB-987D-E2BF-1217B72D479C}"/>
              </a:ext>
            </a:extLst>
          </p:cNvPr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7960C91-188B-F832-2334-A0B9FFF6B4CD}"/>
              </a:ext>
            </a:extLst>
          </p:cNvPr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3AE4358-7410-DB0B-8896-CF7520B1EA36}"/>
              </a:ext>
            </a:extLst>
          </p:cNvPr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221EDE5-8F16-99A5-BF90-6A55776C69B9}"/>
              </a:ext>
            </a:extLst>
          </p:cNvPr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2FEC6C1-6009-CE2C-5736-D2BC93FDE693}"/>
              </a:ext>
            </a:extLst>
          </p:cNvPr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78F2777-A7B4-A65F-7938-0237FB23DE42}"/>
              </a:ext>
            </a:extLst>
          </p:cNvPr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8BF41B21-6387-5E4B-D54C-265D23496A02}"/>
              </a:ext>
            </a:extLst>
          </p:cNvPr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1091D90-A9F2-9794-7D48-C877D020CD32}"/>
              </a:ext>
            </a:extLst>
          </p:cNvPr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11461E0-2C6A-3485-8B59-BFA9193BC787}"/>
              </a:ext>
            </a:extLst>
          </p:cNvPr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B1D7DDD6-B0BA-DA2D-724A-E310716F9D96}"/>
              </a:ext>
            </a:extLst>
          </p:cNvPr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9404F8A4-0294-9EA1-4049-E6A551961C00}"/>
              </a:ext>
            </a:extLst>
          </p:cNvPr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04D588C-D739-4D08-55A2-3A391453ECF6}"/>
              </a:ext>
            </a:extLst>
          </p:cNvPr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E7B10BCA-17CA-BC85-A3B8-C62E5DD61239}"/>
              </a:ext>
            </a:extLst>
          </p:cNvPr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9C3C43E9-1ED0-E8FD-2E8A-A43241BF9120}"/>
              </a:ext>
            </a:extLst>
          </p:cNvPr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8AC95F21-1BC2-8F7C-EB2B-A80A49BDD5DD}"/>
              </a:ext>
            </a:extLst>
          </p:cNvPr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38D8F97F-B79E-E74F-4404-E718D3135464}"/>
              </a:ext>
            </a:extLst>
          </p:cNvPr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7E8C5E4F-3E98-CF2A-2A5C-2FB7DF1D38FA}"/>
              </a:ext>
            </a:extLst>
          </p:cNvPr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23A512A8-6EDF-2781-F9FD-7116B1775D6E}"/>
              </a:ext>
            </a:extLst>
          </p:cNvPr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878E2157-B9A2-23FD-759B-6C5705483EC0}"/>
              </a:ext>
            </a:extLst>
          </p:cNvPr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B100F890-D142-B204-CC21-CA0E5442B316}"/>
              </a:ext>
            </a:extLst>
          </p:cNvPr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FDBEDBB5-DD02-BCB7-BF2E-A9BEF9813FE6}"/>
              </a:ext>
            </a:extLst>
          </p:cNvPr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EFED25B-01A3-F8CF-B405-AA48C37ABFB4}"/>
              </a:ext>
            </a:extLst>
          </p:cNvPr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EBB3CCAA-A67A-BFF6-3699-4517C8B34044}"/>
              </a:ext>
            </a:extLst>
          </p:cNvPr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B0BF0A88-A22A-8C23-F4D2-21AEA119120F}"/>
              </a:ext>
            </a:extLst>
          </p:cNvPr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DABF99E4-2A23-97C1-EDDB-3DDA589C3C64}"/>
              </a:ext>
            </a:extLst>
          </p:cNvPr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3E5A6BD3-18C0-5F30-9B32-1D8F66A1DF6B}"/>
              </a:ext>
            </a:extLst>
          </p:cNvPr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2E0B66CF-7D65-B71E-29A7-321E21FBF745}"/>
              </a:ext>
            </a:extLst>
          </p:cNvPr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5F20C987-8361-5DBF-4F2A-EE9D2BF137E9}"/>
              </a:ext>
            </a:extLst>
          </p:cNvPr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B533445C-A37D-F215-2294-0DF735BDA06F}"/>
              </a:ext>
            </a:extLst>
          </p:cNvPr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87019D3B-F911-FB5F-9ED2-560FABAC51F7}"/>
              </a:ext>
            </a:extLst>
          </p:cNvPr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4E9F7EB1-DD24-9E9E-2943-5DE9B432C18B}"/>
              </a:ext>
            </a:extLst>
          </p:cNvPr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68261C08-6538-7A06-5F32-A6767454D176}"/>
              </a:ext>
            </a:extLst>
          </p:cNvPr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64559BE7-7427-6922-B7EF-BD78B3F70139}"/>
              </a:ext>
            </a:extLst>
          </p:cNvPr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Dataset &amp; Temporal Resolution Challenges</a:t>
            </a: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B4644110-B674-1181-5176-49EF294763EF}"/>
              </a:ext>
            </a:extLst>
          </p:cNvPr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Overcoming dataset constraints, unpredictable inputs, and temporal blind spots.</a:t>
            </a: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820D1C8A-3B2D-A7B6-13F4-0C681DD460D2}"/>
              </a:ext>
            </a:extLst>
          </p:cNvPr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1D3BF03F-EB2A-1FE9-EC67-0B2EC3981F5D}"/>
              </a:ext>
            </a:extLst>
          </p:cNvPr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MODEL</a:t>
            </a:r>
            <a:endParaRPr lang="en-US" sz="76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9B2DFC51-78E9-ABAA-4F0A-62481ACF97AA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4355F2BC-1B3E-5E30-B16C-9EC7738DA65D}"/>
              </a:ext>
            </a:extLst>
          </p:cNvPr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73" name="מלבן: פינות מעוגלות 72">
            <a:extLst>
              <a:ext uri="{FF2B5EF4-FFF2-40B4-BE49-F238E27FC236}">
                <a16:creationId xmlns:a16="http://schemas.microsoft.com/office/drawing/2014/main" id="{2C69746D-2852-BA51-1777-D35CC33286F9}"/>
              </a:ext>
            </a:extLst>
          </p:cNvPr>
          <p:cNvSpPr/>
          <p:nvPr/>
        </p:nvSpPr>
        <p:spPr>
          <a:xfrm>
            <a:off x="661798" y="1280160"/>
            <a:ext cx="5589270" cy="274320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B7B77460-5824-BD43-4B1E-76814750B146}"/>
              </a:ext>
            </a:extLst>
          </p:cNvPr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16</a:t>
            </a:r>
            <a:endParaRPr lang="en-US" sz="900" dirty="0"/>
          </a:p>
        </p:txBody>
      </p:sp>
      <p:pic>
        <p:nvPicPr>
          <p:cNvPr id="68" name="תמונה 67">
            <a:extLst>
              <a:ext uri="{FF2B5EF4-FFF2-40B4-BE49-F238E27FC236}">
                <a16:creationId xmlns:a16="http://schemas.microsoft.com/office/drawing/2014/main" id="{3B4B218E-639C-5F79-0651-E6F0B493F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0" t="16760" r="17116" b="59126"/>
          <a:stretch>
            <a:fillRect/>
          </a:stretch>
        </p:blipFill>
        <p:spPr>
          <a:xfrm>
            <a:off x="6526397" y="2286001"/>
            <a:ext cx="4320000" cy="9644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9" name="תמונה 68">
            <a:extLst>
              <a:ext uri="{FF2B5EF4-FFF2-40B4-BE49-F238E27FC236}">
                <a16:creationId xmlns:a16="http://schemas.microsoft.com/office/drawing/2014/main" id="{9EBB526F-6D57-112A-8F14-FE9CAD6DB2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3" t="74210" r="17253" b="1676"/>
          <a:stretch>
            <a:fillRect/>
          </a:stretch>
        </p:blipFill>
        <p:spPr>
          <a:xfrm>
            <a:off x="6526397" y="4647117"/>
            <a:ext cx="4320000" cy="947047"/>
          </a:xfrm>
          <a:prstGeom prst="rect">
            <a:avLst/>
          </a:prstGeom>
        </p:spPr>
      </p:pic>
      <p:sp>
        <p:nvSpPr>
          <p:cNvPr id="74" name="תיבת טקסט 73">
            <a:extLst>
              <a:ext uri="{FF2B5EF4-FFF2-40B4-BE49-F238E27FC236}">
                <a16:creationId xmlns:a16="http://schemas.microsoft.com/office/drawing/2014/main" id="{2C185A89-D368-F321-A118-4872C1246B0A}"/>
              </a:ext>
            </a:extLst>
          </p:cNvPr>
          <p:cNvSpPr txBox="1"/>
          <p:nvPr/>
        </p:nvSpPr>
        <p:spPr>
          <a:xfrm>
            <a:off x="819606" y="1325880"/>
            <a:ext cx="5273654" cy="258532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b="1" dirty="0"/>
              <a:t>Dataset Constraints &amp; Sliced Actions</a:t>
            </a:r>
          </a:p>
          <a:p>
            <a:r>
              <a:rPr lang="en-US" sz="1200" dirty="0"/>
              <a:t>Most videos in the dataset were pre-cut into 5-second clips. Longer videos were sliced arbitrarily, often cutting the violent action right in the middle.</a:t>
            </a:r>
          </a:p>
          <a:p>
            <a:endParaRPr lang="en-US" sz="1200" dirty="0"/>
          </a:p>
          <a:p>
            <a:r>
              <a:rPr lang="en-US" sz="1400" b="1" dirty="0"/>
              <a:t>Real-World Uncertainty</a:t>
            </a:r>
          </a:p>
          <a:p>
            <a:r>
              <a:rPr lang="en-US" sz="1200" dirty="0"/>
              <a:t>In a real-world scenario, we cannot predict the length of the input video or when the violence will occur. Our system must be able to handle arbitrary, unsegmented video streams.</a:t>
            </a:r>
          </a:p>
          <a:p>
            <a:endParaRPr lang="en-US" sz="1200" dirty="0"/>
          </a:p>
          <a:p>
            <a:r>
              <a:rPr lang="en-US" sz="1400" b="1" dirty="0"/>
              <a:t>The 16-Frame Blind Spot</a:t>
            </a:r>
          </a:p>
          <a:p>
            <a:r>
              <a:rPr lang="en-US" sz="1200" dirty="0"/>
              <a:t>Spreading the required 16 frames across a full 5-second video yielded a low sampling rate (1 frame per ~0.31s). Fast, dynamic actions-such as a quick punch-often slipped entirely between frames.</a:t>
            </a:r>
          </a:p>
        </p:txBody>
      </p:sp>
      <p:sp>
        <p:nvSpPr>
          <p:cNvPr id="75" name="תיבת טקסט 74">
            <a:extLst>
              <a:ext uri="{FF2B5EF4-FFF2-40B4-BE49-F238E27FC236}">
                <a16:creationId xmlns:a16="http://schemas.microsoft.com/office/drawing/2014/main" id="{B2B08189-7155-833B-4D1D-812C319E6EAD}"/>
              </a:ext>
            </a:extLst>
          </p:cNvPr>
          <p:cNvSpPr txBox="1"/>
          <p:nvPr/>
        </p:nvSpPr>
        <p:spPr>
          <a:xfrm>
            <a:off x="655320" y="4480560"/>
            <a:ext cx="5602226" cy="12801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2FBF71"/>
            </a:solidFill>
            <a:prstDash val="solid"/>
          </a:ln>
        </p:spPr>
        <p:txBody>
          <a:bodyPr anchor="ctr"/>
          <a:lstStyle>
            <a:lvl1pPr algn="ctr">
              <a:defRPr sz="1200" b="1">
                <a:solidFill>
                  <a:srgbClr val="59866F"/>
                </a:solidFill>
              </a:defRPr>
            </a:lvl1pPr>
          </a:lstStyle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The 3-Second Dilemma</a:t>
            </a:r>
          </a:p>
          <a:p>
            <a:pPr algn="l"/>
            <a:r>
              <a:rPr lang="en-US" b="0" dirty="0">
                <a:solidFill>
                  <a:schemeClr val="tx1"/>
                </a:solidFill>
              </a:rPr>
              <a:t>We shrank the input window to 3 seconds to increase frame density and capture rapid motion.</a:t>
            </a:r>
          </a:p>
          <a:p>
            <a:endParaRPr lang="en-US" b="0" dirty="0"/>
          </a:p>
          <a:p>
            <a:pPr algn="l"/>
            <a:r>
              <a:rPr lang="en-US" b="0" dirty="0">
                <a:solidFill>
                  <a:schemeClr val="tx1"/>
                </a:solidFill>
              </a:rPr>
              <a:t> However, this introduced a new risk: taking only a 3-second chunk might completely miss or cut the violence within the clip…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35733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1CDD-2BE1-6E18-D2AF-688509D3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725456-74F4-1720-9818-21057950909D}"/>
              </a:ext>
            </a:extLst>
          </p:cNvPr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E612F03-D416-5512-08CC-B7AED5B9C7E5}"/>
              </a:ext>
            </a:extLst>
          </p:cNvPr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6D18ED-9FBE-BE9C-2B8C-F4404E135B97}"/>
              </a:ext>
            </a:extLst>
          </p:cNvPr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86B32B9-6502-B53C-913F-3412D63505BE}"/>
              </a:ext>
            </a:extLst>
          </p:cNvPr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4E7F9C0-332F-1B7A-AC0F-65126612D4FD}"/>
              </a:ext>
            </a:extLst>
          </p:cNvPr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FC364D0-AC63-C0CC-499F-D2090BE72AFE}"/>
              </a:ext>
            </a:extLst>
          </p:cNvPr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F21898A-4719-2573-D3B2-FABE960D811B}"/>
              </a:ext>
            </a:extLst>
          </p:cNvPr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EB90BBB-3FE7-DE1E-920D-BC01902C9E42}"/>
              </a:ext>
            </a:extLst>
          </p:cNvPr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0FBA4BB-B07E-7663-0354-659BADA52A5B}"/>
              </a:ext>
            </a:extLst>
          </p:cNvPr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D98760A-147A-64D8-18D8-BA398CF86767}"/>
              </a:ext>
            </a:extLst>
          </p:cNvPr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14F7B45-BFF4-C62F-441E-A90EEB7A31E4}"/>
              </a:ext>
            </a:extLst>
          </p:cNvPr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1EFBB05-05FD-F95B-088A-370AFCC3B56F}"/>
              </a:ext>
            </a:extLst>
          </p:cNvPr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FC43D69-A48E-E209-8EFA-E135EB60319A}"/>
              </a:ext>
            </a:extLst>
          </p:cNvPr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A2FF331-B892-7C90-F719-9567702B65A0}"/>
              </a:ext>
            </a:extLst>
          </p:cNvPr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D24AFF5-D113-CD08-D7CA-C795DE160077}"/>
              </a:ext>
            </a:extLst>
          </p:cNvPr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415A257-E7B8-815C-42B6-FC98D97048C8}"/>
              </a:ext>
            </a:extLst>
          </p:cNvPr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92EE29F-2E50-88B9-370A-BEB7B4044520}"/>
              </a:ext>
            </a:extLst>
          </p:cNvPr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9384ABC-9A13-1933-DEB1-E06E1BF2F682}"/>
              </a:ext>
            </a:extLst>
          </p:cNvPr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47C1CD5-F79F-3466-6FD0-1133AFE1520E}"/>
              </a:ext>
            </a:extLst>
          </p:cNvPr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E8F80C5-FCC5-90E6-2029-C6FE1954432F}"/>
              </a:ext>
            </a:extLst>
          </p:cNvPr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62590D0-81E7-C60F-04D3-3B63A2712300}"/>
              </a:ext>
            </a:extLst>
          </p:cNvPr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A6DC11D-912C-CE04-79A9-8FAFF098BBB3}"/>
              </a:ext>
            </a:extLst>
          </p:cNvPr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D150745-E6B0-89DE-A20A-584D1E02A0A8}"/>
              </a:ext>
            </a:extLst>
          </p:cNvPr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D8B36C7-B663-B94D-FB75-19D66AF49A82}"/>
              </a:ext>
            </a:extLst>
          </p:cNvPr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15F5020-8C9D-AD01-27DF-42A96AB1F8B9}"/>
              </a:ext>
            </a:extLst>
          </p:cNvPr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FD91856-986D-2B39-FA17-39D6E1E1DD2A}"/>
              </a:ext>
            </a:extLst>
          </p:cNvPr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A574174-9C01-F36E-DDCD-855AF29962BA}"/>
              </a:ext>
            </a:extLst>
          </p:cNvPr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FAE6B2A-0778-620A-AD7D-A2C180D44BF0}"/>
              </a:ext>
            </a:extLst>
          </p:cNvPr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792F404-CC54-88FC-A7B5-DD246745E24E}"/>
              </a:ext>
            </a:extLst>
          </p:cNvPr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5B89D8E-81D6-14D8-EDDB-EAC014293978}"/>
              </a:ext>
            </a:extLst>
          </p:cNvPr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D3B207B-BEC1-F12C-FE2F-6F3F4CB1E331}"/>
              </a:ext>
            </a:extLst>
          </p:cNvPr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B9BF1B1-9E37-5988-60E9-261D9757B8F0}"/>
              </a:ext>
            </a:extLst>
          </p:cNvPr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9CD762B-2DCA-312C-F4AD-81BDD3778BC3}"/>
              </a:ext>
            </a:extLst>
          </p:cNvPr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39388BB-07EE-06BA-E1FD-CFF0A6B41320}"/>
              </a:ext>
            </a:extLst>
          </p:cNvPr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E716AB2-EF82-6D00-C1F5-576D7BCE3484}"/>
              </a:ext>
            </a:extLst>
          </p:cNvPr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EFE2717-7709-125F-8157-5F1CA59E923B}"/>
              </a:ext>
            </a:extLst>
          </p:cNvPr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F92243A3-5846-A1EE-8525-0CEBA3B48AFF}"/>
              </a:ext>
            </a:extLst>
          </p:cNvPr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7851078D-69C0-52B5-7AFB-FCC1BD36ABBE}"/>
              </a:ext>
            </a:extLst>
          </p:cNvPr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E4B70B8F-3A3B-4641-8A08-1D10449E6B88}"/>
              </a:ext>
            </a:extLst>
          </p:cNvPr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7ECBC2C-EC83-1B85-230D-9216040AED0F}"/>
              </a:ext>
            </a:extLst>
          </p:cNvPr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2EDE02F-DF0E-949D-B3E8-BFE38C3C139A}"/>
              </a:ext>
            </a:extLst>
          </p:cNvPr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4743069F-F7CD-E93E-65A5-322E771FE4B2}"/>
              </a:ext>
            </a:extLst>
          </p:cNvPr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3101B29A-C726-B56D-B3F5-7C869132EA7E}"/>
              </a:ext>
            </a:extLst>
          </p:cNvPr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F685A1E2-CBCE-5AD1-5FBE-0CD05FFE0633}"/>
              </a:ext>
            </a:extLst>
          </p:cNvPr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2C678D43-9A4B-C138-CF14-CA6AB6BE926C}"/>
              </a:ext>
            </a:extLst>
          </p:cNvPr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66C9C938-7D61-9C14-F501-842E9EBAE66A}"/>
              </a:ext>
            </a:extLst>
          </p:cNvPr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7CA64E2D-257A-CC1A-2BA2-E8279CDF52FC}"/>
              </a:ext>
            </a:extLst>
          </p:cNvPr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00739489-1E92-53D7-F0D9-57F4D1281936}"/>
              </a:ext>
            </a:extLst>
          </p:cNvPr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86E7CA5B-8CE7-2D8D-3CFE-0CF608A5E47F}"/>
              </a:ext>
            </a:extLst>
          </p:cNvPr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44582975-40F7-C819-DC9F-ADC302F015C4}"/>
              </a:ext>
            </a:extLst>
          </p:cNvPr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6C796DEF-5379-72FF-28ED-7BD282D25886}"/>
              </a:ext>
            </a:extLst>
          </p:cNvPr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BD5B6BF6-F813-1A84-B967-2AA093A1496A}"/>
              </a:ext>
            </a:extLst>
          </p:cNvPr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DEE767D7-BEB2-A01B-5889-A735777C6A62}"/>
              </a:ext>
            </a:extLst>
          </p:cNvPr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C92BE9F-74EB-2B30-C451-FD066E33E78B}"/>
              </a:ext>
            </a:extLst>
          </p:cNvPr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DFA1F7CA-4DC0-C931-5713-C5DC25F0D8FC}"/>
              </a:ext>
            </a:extLst>
          </p:cNvPr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CFCBFC22-DE4B-AF0A-0F60-975D25274745}"/>
              </a:ext>
            </a:extLst>
          </p:cNvPr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8AC07987-FD28-8E11-E015-042478AC7F25}"/>
              </a:ext>
            </a:extLst>
          </p:cNvPr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5B34DCA9-D339-F315-1129-B3534DF074E3}"/>
              </a:ext>
            </a:extLst>
          </p:cNvPr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3BC65718-9F62-0A5C-2439-F7B06CFBEC27}"/>
              </a:ext>
            </a:extLst>
          </p:cNvPr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8C2EAF9E-9EDB-2D56-E86E-69567DAE49C0}"/>
              </a:ext>
            </a:extLst>
          </p:cNvPr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7CE67F5F-F0C8-6184-8E29-25C32CDC223B}"/>
              </a:ext>
            </a:extLst>
          </p:cNvPr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F08E4319-D8AD-128A-07D7-97DA0790F98F}"/>
              </a:ext>
            </a:extLst>
          </p:cNvPr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Optimization: The Probability Math</a:t>
            </a: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00EC8E90-0D8E-22EF-0015-4E4F661922FE}"/>
              </a:ext>
            </a:extLst>
          </p:cNvPr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Balancing computational cost with 100% video coverage probability.</a:t>
            </a: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601859BE-DF4F-02F6-3B94-99786E01CE2F}"/>
              </a:ext>
            </a:extLst>
          </p:cNvPr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6B29CD57-5327-B6B7-6114-29C5A4FEF906}"/>
              </a:ext>
            </a:extLst>
          </p:cNvPr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MODEL</a:t>
            </a:r>
            <a:endParaRPr lang="en-US" sz="76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63485EC9-9961-AA03-FF7E-BCDBA83C104B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7" name="מלבן: פינות מעוגלות 86">
            <a:extLst>
              <a:ext uri="{FF2B5EF4-FFF2-40B4-BE49-F238E27FC236}">
                <a16:creationId xmlns:a16="http://schemas.microsoft.com/office/drawing/2014/main" id="{EC04EF28-6A55-4EA3-038E-BA7B5FFB4152}"/>
              </a:ext>
            </a:extLst>
          </p:cNvPr>
          <p:cNvSpPr/>
          <p:nvPr/>
        </p:nvSpPr>
        <p:spPr>
          <a:xfrm>
            <a:off x="419450" y="1417318"/>
            <a:ext cx="11284870" cy="11128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02484B1C-CE24-44DF-F812-E86642B9B855}"/>
              </a:ext>
            </a:extLst>
          </p:cNvPr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0464A2FC-33E2-18B2-304B-4EDBF745BC64}"/>
              </a:ext>
            </a:extLst>
          </p:cNvPr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17</a:t>
            </a:r>
            <a:endParaRPr lang="en-US" sz="900" dirty="0"/>
          </a:p>
        </p:txBody>
      </p:sp>
      <p:sp>
        <p:nvSpPr>
          <p:cNvPr id="80" name="תיבת טקסט 79">
            <a:extLst>
              <a:ext uri="{FF2B5EF4-FFF2-40B4-BE49-F238E27FC236}">
                <a16:creationId xmlns:a16="http://schemas.microsoft.com/office/drawing/2014/main" id="{765A18BB-B532-E1D1-A4EA-5FEE4AA8094E}"/>
              </a:ext>
            </a:extLst>
          </p:cNvPr>
          <p:cNvSpPr txBox="1"/>
          <p:nvPr/>
        </p:nvSpPr>
        <p:spPr>
          <a:xfrm>
            <a:off x="493776" y="1447284"/>
            <a:ext cx="1120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The Single-Epoch Constraint</a:t>
            </a:r>
          </a:p>
          <a:p>
            <a:r>
              <a:rPr lang="en-US" sz="1800" dirty="0"/>
              <a:t>Randomly cropping 3 seconds out of a 5-second clip gives us a 60% coverage window. This means a single training pass carries a 40% risk of completely missing the violent action.</a:t>
            </a:r>
            <a:endParaRPr lang="he-IL" sz="1800" dirty="0"/>
          </a:p>
        </p:txBody>
      </p:sp>
      <p:sp>
        <p:nvSpPr>
          <p:cNvPr id="88" name="מלבן: פינות מעוגלות 87">
            <a:extLst>
              <a:ext uri="{FF2B5EF4-FFF2-40B4-BE49-F238E27FC236}">
                <a16:creationId xmlns:a16="http://schemas.microsoft.com/office/drawing/2014/main" id="{10BC18AF-5CE6-8BE1-9E58-952AABCB8506}"/>
              </a:ext>
            </a:extLst>
          </p:cNvPr>
          <p:cNvSpPr/>
          <p:nvPr/>
        </p:nvSpPr>
        <p:spPr>
          <a:xfrm>
            <a:off x="452041" y="2921118"/>
            <a:ext cx="11284870" cy="11128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1" name="תיבת טקסט 80">
            <a:extLst>
              <a:ext uri="{FF2B5EF4-FFF2-40B4-BE49-F238E27FC236}">
                <a16:creationId xmlns:a16="http://schemas.microsoft.com/office/drawing/2014/main" id="{43C4583F-456D-F51B-392F-9561F230E12F}"/>
              </a:ext>
            </a:extLst>
          </p:cNvPr>
          <p:cNvSpPr txBox="1"/>
          <p:nvPr/>
        </p:nvSpPr>
        <p:spPr>
          <a:xfrm>
            <a:off x="502920" y="2965880"/>
            <a:ext cx="7184625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The Probability Equation</a:t>
            </a:r>
          </a:p>
          <a:p>
            <a:r>
              <a:rPr lang="en-US" dirty="0"/>
              <a:t>By applying Random Temporal Cropping, what is the probability of capturing the violent event across E epochs?</a:t>
            </a:r>
            <a:endParaRPr lang="he-IL" dirty="0"/>
          </a:p>
        </p:txBody>
      </p:sp>
      <p:sp>
        <p:nvSpPr>
          <p:cNvPr id="89" name="מלבן: פינות מעוגלות 88">
            <a:extLst>
              <a:ext uri="{FF2B5EF4-FFF2-40B4-BE49-F238E27FC236}">
                <a16:creationId xmlns:a16="http://schemas.microsoft.com/office/drawing/2014/main" id="{8EAEBEBE-81A3-0D85-383A-222AE074C277}"/>
              </a:ext>
            </a:extLst>
          </p:cNvPr>
          <p:cNvSpPr/>
          <p:nvPr/>
        </p:nvSpPr>
        <p:spPr>
          <a:xfrm>
            <a:off x="452041" y="4362541"/>
            <a:ext cx="11284870" cy="11128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2" name="תיבת טקסט 81">
            <a:extLst>
              <a:ext uri="{FF2B5EF4-FFF2-40B4-BE49-F238E27FC236}">
                <a16:creationId xmlns:a16="http://schemas.microsoft.com/office/drawing/2014/main" id="{60D5AB61-F92E-8FEA-4978-69BB2B12C509}"/>
              </a:ext>
            </a:extLst>
          </p:cNvPr>
          <p:cNvSpPr txBox="1"/>
          <p:nvPr/>
        </p:nvSpPr>
        <p:spPr>
          <a:xfrm>
            <a:off x="502920" y="4484476"/>
            <a:ext cx="718462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The 25-Epoch Sweet Spot</a:t>
            </a:r>
          </a:p>
          <a:p>
            <a:r>
              <a:rPr lang="en-US" dirty="0"/>
              <a:t>Running exactly 25 Epochs guarantees statistical certainty: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תיבת טקסט 82">
                <a:extLst>
                  <a:ext uri="{FF2B5EF4-FFF2-40B4-BE49-F238E27FC236}">
                    <a16:creationId xmlns:a16="http://schemas.microsoft.com/office/drawing/2014/main" id="{BE4041E5-CDE8-A739-EA4A-27C5E0021855}"/>
                  </a:ext>
                </a:extLst>
              </p:cNvPr>
              <p:cNvSpPr txBox="1"/>
              <p:nvPr/>
            </p:nvSpPr>
            <p:spPr>
              <a:xfrm>
                <a:off x="8509044" y="3121008"/>
                <a:ext cx="2941607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he-IL" i="0">
                              <a:latin typeface="Cambria Math" panose="02040503050406030204" pitchFamily="18" charset="0"/>
                            </a:rPr>
                            <m:t>Capture</m:t>
                          </m:r>
                        </m:e>
                      </m:d>
                      <m:r>
                        <a:rPr lang="he-I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e>
                        <m:sup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</m:oMath>
                  </m:oMathPara>
                </a14:m>
                <a:endParaRPr lang="he-IL" dirty="0"/>
              </a:p>
            </p:txBody>
          </p:sp>
        </mc:Choice>
        <mc:Fallback>
          <p:sp>
            <p:nvSpPr>
              <p:cNvPr id="83" name="תיבת טקסט 82">
                <a:extLst>
                  <a:ext uri="{FF2B5EF4-FFF2-40B4-BE49-F238E27FC236}">
                    <a16:creationId xmlns:a16="http://schemas.microsoft.com/office/drawing/2014/main" id="{BE4041E5-CDE8-A739-EA4A-27C5E0021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044" y="3121008"/>
                <a:ext cx="294160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תיבת טקסט 83">
            <a:extLst>
              <a:ext uri="{FF2B5EF4-FFF2-40B4-BE49-F238E27FC236}">
                <a16:creationId xmlns:a16="http://schemas.microsoft.com/office/drawing/2014/main" id="{8881B2E3-4ADB-947B-245A-CE87BD85C4F1}"/>
              </a:ext>
            </a:extLst>
          </p:cNvPr>
          <p:cNvSpPr txBox="1"/>
          <p:nvPr/>
        </p:nvSpPr>
        <p:spPr>
          <a:xfrm>
            <a:off x="8342032" y="3570951"/>
            <a:ext cx="3347048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dirty="0"/>
              <a:t>(Where W = 0.6 represents our 60% temporal window)</a:t>
            </a:r>
            <a:endParaRPr lang="he-IL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תיבת טקסט 84">
                <a:extLst>
                  <a:ext uri="{FF2B5EF4-FFF2-40B4-BE49-F238E27FC236}">
                    <a16:creationId xmlns:a16="http://schemas.microsoft.com/office/drawing/2014/main" id="{961B770D-72D2-0B57-C3F5-DD458957ECDE}"/>
                  </a:ext>
                </a:extLst>
              </p:cNvPr>
              <p:cNvSpPr txBox="1"/>
              <p:nvPr/>
            </p:nvSpPr>
            <p:spPr>
              <a:xfrm>
                <a:off x="8001000" y="4754492"/>
                <a:ext cx="3752488" cy="37241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he-IL" i="0">
                              <a:latin typeface="Cambria Math" panose="02040503050406030204" pitchFamily="18" charset="0"/>
                            </a:rPr>
                            <m:t>Capture</m:t>
                          </m:r>
                        </m:e>
                      </m:d>
                      <m:r>
                        <a:rPr lang="he-I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e>
                        <m:sup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25</m:t>
                          </m:r>
                        </m:sup>
                      </m:sSup>
                      <m:r>
                        <a:rPr lang="he-IL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>
          <p:sp>
            <p:nvSpPr>
              <p:cNvPr id="85" name="תיבת טקסט 84">
                <a:extLst>
                  <a:ext uri="{FF2B5EF4-FFF2-40B4-BE49-F238E27FC236}">
                    <a16:creationId xmlns:a16="http://schemas.microsoft.com/office/drawing/2014/main" id="{961B770D-72D2-0B57-C3F5-DD458957E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4754492"/>
                <a:ext cx="3752488" cy="372410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תיבת טקסט 85">
            <a:extLst>
              <a:ext uri="{FF2B5EF4-FFF2-40B4-BE49-F238E27FC236}">
                <a16:creationId xmlns:a16="http://schemas.microsoft.com/office/drawing/2014/main" id="{1FB92720-4B4E-6F15-2891-8880658CAFB2}"/>
              </a:ext>
            </a:extLst>
          </p:cNvPr>
          <p:cNvSpPr txBox="1"/>
          <p:nvPr/>
        </p:nvSpPr>
        <p:spPr>
          <a:xfrm>
            <a:off x="807926" y="5832193"/>
            <a:ext cx="10576149" cy="43144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0160">
            <a:solidFill>
              <a:srgbClr val="2FBF7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59866F"/>
                </a:solidFill>
              </a:rPr>
              <a:t>Result: </a:t>
            </a:r>
            <a:r>
              <a:rPr lang="en-US" sz="1200" dirty="0">
                <a:solidFill>
                  <a:srgbClr val="59866F"/>
                </a:solidFill>
              </a:rPr>
              <a:t>This acts as massive temporal Data Augmentation, ensuring complete video analysis from multiple angles without wasting infinite GPU training time.</a:t>
            </a:r>
          </a:p>
        </p:txBody>
      </p:sp>
    </p:spTree>
    <p:extLst>
      <p:ext uri="{BB962C8B-B14F-4D97-AF65-F5344CB8AC3E}">
        <p14:creationId xmlns:p14="http://schemas.microsoft.com/office/powerpoint/2010/main" val="2265463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8AF34-6599-CA59-0CAB-0CD5A2007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B14BDC-07D2-6B06-5CE5-B3E464DE367D}"/>
              </a:ext>
            </a:extLst>
          </p:cNvPr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D7AD09-C27F-9D68-2275-7B9724B35ADF}"/>
              </a:ext>
            </a:extLst>
          </p:cNvPr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92D53B9-0740-3657-1F63-236C203F4FD9}"/>
              </a:ext>
            </a:extLst>
          </p:cNvPr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2148502-E1D1-5369-6A73-0BCF1F1ABC58}"/>
              </a:ext>
            </a:extLst>
          </p:cNvPr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8D93BE6-7603-E9E4-B337-C97C7F834638}"/>
              </a:ext>
            </a:extLst>
          </p:cNvPr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779F96B-181A-2E5D-739D-AC2014EDC714}"/>
              </a:ext>
            </a:extLst>
          </p:cNvPr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D5E8E5A-119A-ED51-3D0C-E9055C19F07A}"/>
              </a:ext>
            </a:extLst>
          </p:cNvPr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CD5A0E2-232C-FDA1-7C84-60EFA0DDC637}"/>
              </a:ext>
            </a:extLst>
          </p:cNvPr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4327B4F-019C-F637-1A3F-1A6CB93A79E7}"/>
              </a:ext>
            </a:extLst>
          </p:cNvPr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9F1B195-C4FA-F6ED-2F72-C881F4007660}"/>
              </a:ext>
            </a:extLst>
          </p:cNvPr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44F8CA6-CCBE-40ED-023C-60B2CE847A65}"/>
              </a:ext>
            </a:extLst>
          </p:cNvPr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2899034-08B3-ECC1-82DF-97C23A8E1215}"/>
              </a:ext>
            </a:extLst>
          </p:cNvPr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FC7AD65-7C22-451E-658A-85B473EF63C8}"/>
              </a:ext>
            </a:extLst>
          </p:cNvPr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646A8DC-8CF1-1FB6-5D4A-D6643199206F}"/>
              </a:ext>
            </a:extLst>
          </p:cNvPr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EAAB349-1525-CE23-612D-11884D1E53F6}"/>
              </a:ext>
            </a:extLst>
          </p:cNvPr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AD3F630-C3F4-278F-DDAF-77DC705A8DA2}"/>
              </a:ext>
            </a:extLst>
          </p:cNvPr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C68AE37-5E6A-08AC-63F5-35180F9D9F70}"/>
              </a:ext>
            </a:extLst>
          </p:cNvPr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899968B-A31B-EA5F-272C-F481FD1E8772}"/>
              </a:ext>
            </a:extLst>
          </p:cNvPr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577CFE0-9F12-7D93-B3F6-4C6122D7A9A5}"/>
              </a:ext>
            </a:extLst>
          </p:cNvPr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5A9A3D0-F2FC-2459-2679-9AA6CEFB28BE}"/>
              </a:ext>
            </a:extLst>
          </p:cNvPr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DA62EA0-0A98-A49F-C70D-83445523D06B}"/>
              </a:ext>
            </a:extLst>
          </p:cNvPr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276BAB4-B015-1971-32A0-5414A3B8E0DD}"/>
              </a:ext>
            </a:extLst>
          </p:cNvPr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EAAC666-8DB4-7B1A-2B2B-C9780E8B6D82}"/>
              </a:ext>
            </a:extLst>
          </p:cNvPr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7E1334A-CE14-214F-6FF9-5612193F3DF6}"/>
              </a:ext>
            </a:extLst>
          </p:cNvPr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FD80319-1CAF-2A58-1CA8-1D4EBA0632AB}"/>
              </a:ext>
            </a:extLst>
          </p:cNvPr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8087A80-D501-CEA7-7C06-15E257336B0C}"/>
              </a:ext>
            </a:extLst>
          </p:cNvPr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BD1C50B-2DBE-7B99-F5E6-69961F7AE6C4}"/>
              </a:ext>
            </a:extLst>
          </p:cNvPr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8CF6E13-BD48-36E9-4F1A-5E8E1D9269AC}"/>
              </a:ext>
            </a:extLst>
          </p:cNvPr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C5C3700-7EC2-681F-27DA-50E16C890AC8}"/>
              </a:ext>
            </a:extLst>
          </p:cNvPr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8452C47-D39F-A35F-8CB2-DABD157C5E23}"/>
              </a:ext>
            </a:extLst>
          </p:cNvPr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775E69D-8B43-7A28-82D6-59D66BDEF7AE}"/>
              </a:ext>
            </a:extLst>
          </p:cNvPr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08FC424-7CFE-AB60-B45C-A4E126C4D99A}"/>
              </a:ext>
            </a:extLst>
          </p:cNvPr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FDD0BDD-4103-71C9-D748-C0E35A175437}"/>
              </a:ext>
            </a:extLst>
          </p:cNvPr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A77A4D8-B290-4B04-A7E8-3AFBE57F5A44}"/>
              </a:ext>
            </a:extLst>
          </p:cNvPr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436CC15-5ED1-AE5E-97C7-995906BE8937}"/>
              </a:ext>
            </a:extLst>
          </p:cNvPr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695AEE6-6725-0737-C8BB-09D9059FCF68}"/>
              </a:ext>
            </a:extLst>
          </p:cNvPr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E2394F0-D2F3-5611-3645-94B5A36FF6AF}"/>
              </a:ext>
            </a:extLst>
          </p:cNvPr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5346ABB-D6EA-AEB0-3C6A-AAFA810D931F}"/>
              </a:ext>
            </a:extLst>
          </p:cNvPr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6F2C118-43DF-6843-4B93-D528EBB65CAF}"/>
              </a:ext>
            </a:extLst>
          </p:cNvPr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6F789316-85A1-7411-0C7C-EA1C3456F057}"/>
              </a:ext>
            </a:extLst>
          </p:cNvPr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3A4D1FA-CB4F-A24A-C433-940BAD8E08E1}"/>
              </a:ext>
            </a:extLst>
          </p:cNvPr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79F076B-5225-C7E9-935B-BB97FB65E085}"/>
              </a:ext>
            </a:extLst>
          </p:cNvPr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2DC3F6ED-DF83-A5B9-C6A1-D4E095B750A7}"/>
              </a:ext>
            </a:extLst>
          </p:cNvPr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53FF580B-6763-3366-5151-4EDB677EE75D}"/>
              </a:ext>
            </a:extLst>
          </p:cNvPr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1F5F865-D8EF-77B8-0199-379E45A4E72B}"/>
              </a:ext>
            </a:extLst>
          </p:cNvPr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2F2B93E1-E703-F8B8-FF2B-21753F551D45}"/>
              </a:ext>
            </a:extLst>
          </p:cNvPr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7105469D-DDBF-B522-E980-2309865A652C}"/>
              </a:ext>
            </a:extLst>
          </p:cNvPr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6C82B0A-E411-85CB-2507-BF8593D1094F}"/>
              </a:ext>
            </a:extLst>
          </p:cNvPr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FAB3746F-B600-89DF-9452-5FC472162E09}"/>
              </a:ext>
            </a:extLst>
          </p:cNvPr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6CF08447-9DF7-4507-CEDA-FD52BFF1BE3B}"/>
              </a:ext>
            </a:extLst>
          </p:cNvPr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992A2AB9-168E-FB97-76BD-B16F80B93C56}"/>
              </a:ext>
            </a:extLst>
          </p:cNvPr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F7A7830F-97A4-3332-8D2E-36E30595CA77}"/>
              </a:ext>
            </a:extLst>
          </p:cNvPr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2A29A77B-063B-0ACD-C6B8-F365130ACA2C}"/>
              </a:ext>
            </a:extLst>
          </p:cNvPr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50CCBEC-58A7-F46B-FC21-D54E49418BAD}"/>
              </a:ext>
            </a:extLst>
          </p:cNvPr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7F255504-8BEF-74A4-FD3A-0C00A4E26057}"/>
              </a:ext>
            </a:extLst>
          </p:cNvPr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475029C2-3E41-B5CB-5471-88D39709BF06}"/>
              </a:ext>
            </a:extLst>
          </p:cNvPr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4CCEBE37-138B-B723-4922-B5B0E59ABE78}"/>
              </a:ext>
            </a:extLst>
          </p:cNvPr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7FF57FB0-1728-29C0-3048-5842E0E12104}"/>
              </a:ext>
            </a:extLst>
          </p:cNvPr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0F360734-D385-8960-4895-6D66A41EEB9C}"/>
              </a:ext>
            </a:extLst>
          </p:cNvPr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5B850232-D522-37B6-CAF3-DB73F69B2385}"/>
              </a:ext>
            </a:extLst>
          </p:cNvPr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1DDDE42E-F5C8-DE76-0C11-4D6CFF3F6A82}"/>
              </a:ext>
            </a:extLst>
          </p:cNvPr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673A2D65-81A9-E117-DB72-D76796FFDC53}"/>
              </a:ext>
            </a:extLst>
          </p:cNvPr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 err="1">
                <a:solidFill>
                  <a:srgbClr val="18202A"/>
                </a:solidFill>
                <a:latin typeface="Aptos Display" pitchFamily="34" charset="0"/>
              </a:rPr>
              <a:t>MViT</a:t>
            </a: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</a:rPr>
              <a:t> Implementation &amp; Dynamic Thresholding</a:t>
            </a: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D69EDE1C-FBC3-AC71-C494-FDFF48ACB372}"/>
              </a:ext>
            </a:extLst>
          </p:cNvPr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Translating transfer learning and decision boundaries into PyTorch logic.</a:t>
            </a: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D8A2721F-3F86-2B42-68C6-86A422518414}"/>
              </a:ext>
            </a:extLst>
          </p:cNvPr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7E2FC21C-6D14-973A-A6BA-6E2B0BA9377D}"/>
              </a:ext>
            </a:extLst>
          </p:cNvPr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B085B71F-275F-AFEB-9AA4-A603F16327C5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45DBA261-179B-F9E2-685C-20C0001B1F49}"/>
              </a:ext>
            </a:extLst>
          </p:cNvPr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4EBFB986-DECC-5246-7927-F1923654BE6D}"/>
              </a:ext>
            </a:extLst>
          </p:cNvPr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18</a:t>
            </a:r>
            <a:endParaRPr lang="en-US" sz="900" dirty="0"/>
          </a:p>
        </p:txBody>
      </p:sp>
      <p:sp>
        <p:nvSpPr>
          <p:cNvPr id="69" name="תיבת טקסט 68">
            <a:extLst>
              <a:ext uri="{FF2B5EF4-FFF2-40B4-BE49-F238E27FC236}">
                <a16:creationId xmlns:a16="http://schemas.microsoft.com/office/drawing/2014/main" id="{CC9BCB34-D30F-089A-0D68-7E27506FA4EC}"/>
              </a:ext>
            </a:extLst>
          </p:cNvPr>
          <p:cNvSpPr txBox="1"/>
          <p:nvPr/>
        </p:nvSpPr>
        <p:spPr>
          <a:xfrm>
            <a:off x="3069376" y="1398270"/>
            <a:ext cx="3148541" cy="851297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prstClr val="black"/>
                </a:solidFill>
                <a:latin typeface="Aptos"/>
                <a:cs typeface="Arial" panose="020B0604020202020204" pitchFamily="34" charset="0"/>
              </a:rPr>
              <a:t>Layer Freezing </a:t>
            </a:r>
          </a:p>
          <a:p>
            <a:pPr algn="ctr">
              <a:defRPr/>
            </a:pPr>
            <a:r>
              <a:rPr lang="en-US" sz="1100" dirty="0">
                <a:solidFill>
                  <a:prstClr val="black"/>
                </a:solidFill>
                <a:latin typeface="Aptos"/>
                <a:cs typeface="Arial" panose="020B0604020202020204" pitchFamily="34" charset="0"/>
              </a:rPr>
              <a:t>Locking early layers to preserve pre-trained Kinetics-400 knowledge (object/human detection) and save compute resources.</a:t>
            </a:r>
          </a:p>
        </p:txBody>
      </p:sp>
      <p:pic>
        <p:nvPicPr>
          <p:cNvPr id="72" name="תמונה 71">
            <a:extLst>
              <a:ext uri="{FF2B5EF4-FFF2-40B4-BE49-F238E27FC236}">
                <a16:creationId xmlns:a16="http://schemas.microsoft.com/office/drawing/2014/main" id="{9F3E998B-8D45-E56E-47D1-595C42A78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88" y="2676346"/>
            <a:ext cx="4860000" cy="2848729"/>
          </a:xfrm>
          <a:prstGeom prst="rect">
            <a:avLst/>
          </a:prstGeom>
        </p:spPr>
      </p:pic>
      <p:cxnSp>
        <p:nvCxnSpPr>
          <p:cNvPr id="81" name="מחבר חץ ישר 80">
            <a:extLst>
              <a:ext uri="{FF2B5EF4-FFF2-40B4-BE49-F238E27FC236}">
                <a16:creationId xmlns:a16="http://schemas.microsoft.com/office/drawing/2014/main" id="{93351F3C-DE81-A7B3-7888-5B0DFCB4B55B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3200400" y="4480560"/>
            <a:ext cx="2064247" cy="86903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תמונה 72">
            <a:extLst>
              <a:ext uri="{FF2B5EF4-FFF2-40B4-BE49-F238E27FC236}">
                <a16:creationId xmlns:a16="http://schemas.microsoft.com/office/drawing/2014/main" id="{99E34414-1A65-2595-C071-5D3FB1313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500" y="2845819"/>
            <a:ext cx="4906440" cy="2376000"/>
          </a:xfrm>
          <a:prstGeom prst="rect">
            <a:avLst/>
          </a:prstGeom>
        </p:spPr>
      </p:pic>
      <p:cxnSp>
        <p:nvCxnSpPr>
          <p:cNvPr id="86" name="מחבר חץ ישר 85">
            <a:extLst>
              <a:ext uri="{FF2B5EF4-FFF2-40B4-BE49-F238E27FC236}">
                <a16:creationId xmlns:a16="http://schemas.microsoft.com/office/drawing/2014/main" id="{3029FCA4-C053-E3CC-88F0-FB214DB3AD9C}"/>
              </a:ext>
            </a:extLst>
          </p:cNvPr>
          <p:cNvCxnSpPr>
            <a:cxnSpLocks/>
            <a:stCxn id="69" idx="2"/>
          </p:cNvCxnSpPr>
          <p:nvPr/>
        </p:nvCxnSpPr>
        <p:spPr>
          <a:xfrm flipH="1">
            <a:off x="3749879" y="2249567"/>
            <a:ext cx="893768" cy="111441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תיבת טקסט 73">
            <a:extLst>
              <a:ext uri="{FF2B5EF4-FFF2-40B4-BE49-F238E27FC236}">
                <a16:creationId xmlns:a16="http://schemas.microsoft.com/office/drawing/2014/main" id="{4C079601-2FAF-C16A-F778-E3E4B3CDE3E6}"/>
              </a:ext>
            </a:extLst>
          </p:cNvPr>
          <p:cNvSpPr txBox="1"/>
          <p:nvPr/>
        </p:nvSpPr>
        <p:spPr>
          <a:xfrm>
            <a:off x="9006838" y="1315832"/>
            <a:ext cx="2697482" cy="851297"/>
          </a:xfrm>
          <a:prstGeom prst="round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Dynamic Thresholding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 Converting the continuous probability score into a definitive security alert based on a customizable threshold.</a:t>
            </a:r>
          </a:p>
        </p:txBody>
      </p:sp>
      <p:sp>
        <p:nvSpPr>
          <p:cNvPr id="79" name="תיבת טקסט 78">
            <a:extLst>
              <a:ext uri="{FF2B5EF4-FFF2-40B4-BE49-F238E27FC236}">
                <a16:creationId xmlns:a16="http://schemas.microsoft.com/office/drawing/2014/main" id="{850E4B27-9F5D-F6D1-3C65-C43F4E526742}"/>
              </a:ext>
            </a:extLst>
          </p:cNvPr>
          <p:cNvSpPr txBox="1"/>
          <p:nvPr/>
        </p:nvSpPr>
        <p:spPr>
          <a:xfrm>
            <a:off x="3795242" y="5349597"/>
            <a:ext cx="2938809" cy="868323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Binary Head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Custom classification head ending with a Sigmoid activation to output a continuous violence probability (0.0 to 1.0).</a:t>
            </a:r>
            <a:endParaRPr kumimoji="0" lang="he-I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1" name="מחבר חץ ישר 90">
            <a:extLst>
              <a:ext uri="{FF2B5EF4-FFF2-40B4-BE49-F238E27FC236}">
                <a16:creationId xmlns:a16="http://schemas.microsoft.com/office/drawing/2014/main" id="{742343E1-F69D-4FF6-2399-4C07705172E3}"/>
              </a:ext>
            </a:extLst>
          </p:cNvPr>
          <p:cNvCxnSpPr>
            <a:stCxn id="74" idx="2"/>
          </p:cNvCxnSpPr>
          <p:nvPr/>
        </p:nvCxnSpPr>
        <p:spPr>
          <a:xfrm flipH="1">
            <a:off x="9631680" y="2167129"/>
            <a:ext cx="723899" cy="231343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87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Results: Strong Class Separation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MViT V2 S learns spatial-temporal patterns and sharply reduces false alarms.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RESULTS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731520" y="1325880"/>
            <a:ext cx="4297680" cy="466344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7780">
            <a:solidFill>
              <a:srgbClr val="2FBF7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8" name="Text 66"/>
          <p:cNvSpPr/>
          <p:nvPr/>
        </p:nvSpPr>
        <p:spPr>
          <a:xfrm>
            <a:off x="896112" y="149047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02A"/>
                </a:solidFill>
              </a:rPr>
              <a:t>Final Model Confusion Matrix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 rot="16200000">
            <a:off x="841248" y="37078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C8B93"/>
                </a:solidFill>
              </a:rPr>
              <a:t>Actual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691640" y="1892808"/>
            <a:ext cx="1485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C5A66"/>
                </a:solidFill>
              </a:rPr>
              <a:t>Normal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177540" y="1892808"/>
            <a:ext cx="1485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C5A66"/>
                </a:solidFill>
              </a:rPr>
              <a:t>Violence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96112" y="296951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C5A66"/>
                </a:solidFill>
              </a:rPr>
              <a:t>Normal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96112" y="450113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C5A66"/>
                </a:solidFill>
              </a:rPr>
              <a:t>Violence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691640" y="2286000"/>
            <a:ext cx="1485900" cy="1531620"/>
          </a:xfrm>
          <a:prstGeom prst="rect">
            <a:avLst/>
          </a:prstGeom>
          <a:solidFill>
            <a:srgbClr val="E7F6E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5" name="Text 73"/>
          <p:cNvSpPr/>
          <p:nvPr/>
        </p:nvSpPr>
        <p:spPr>
          <a:xfrm>
            <a:off x="1691640" y="2887218"/>
            <a:ext cx="1485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202A"/>
                </a:solidFill>
              </a:rPr>
              <a:t>228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3177540" y="2286000"/>
            <a:ext cx="1485900" cy="1531620"/>
          </a:xfrm>
          <a:prstGeom prst="rect">
            <a:avLst/>
          </a:prstGeom>
          <a:solidFill>
            <a:srgbClr val="FCE7E7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7" name="Text 75"/>
          <p:cNvSpPr/>
          <p:nvPr/>
        </p:nvSpPr>
        <p:spPr>
          <a:xfrm>
            <a:off x="3177540" y="2887218"/>
            <a:ext cx="1485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202A"/>
                </a:solidFill>
              </a:rPr>
              <a:t>8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1691640" y="3817620"/>
            <a:ext cx="1485900" cy="1531620"/>
          </a:xfrm>
          <a:prstGeom prst="rect">
            <a:avLst/>
          </a:prstGeom>
          <a:solidFill>
            <a:srgbClr val="FFF3D7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9" name="Text 77"/>
          <p:cNvSpPr/>
          <p:nvPr/>
        </p:nvSpPr>
        <p:spPr>
          <a:xfrm>
            <a:off x="1691640" y="4418838"/>
            <a:ext cx="1485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202A"/>
                </a:solidFill>
              </a:rPr>
              <a:t>20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3177540" y="3817620"/>
            <a:ext cx="1485900" cy="1531620"/>
          </a:xfrm>
          <a:prstGeom prst="rect">
            <a:avLst/>
          </a:prstGeom>
          <a:solidFill>
            <a:srgbClr val="E7F6E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1" name="Text 79"/>
          <p:cNvSpPr/>
          <p:nvPr/>
        </p:nvSpPr>
        <p:spPr>
          <a:xfrm>
            <a:off x="3177540" y="4418838"/>
            <a:ext cx="1485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202A"/>
                </a:solidFill>
              </a:rPr>
              <a:t>215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5486400" y="164592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FBF7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3" name="Text 81"/>
          <p:cNvSpPr/>
          <p:nvPr/>
        </p:nvSpPr>
        <p:spPr>
          <a:xfrm>
            <a:off x="5596128" y="181051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202A"/>
                </a:solidFill>
              </a:rPr>
              <a:t>94.0%</a:t>
            </a:r>
            <a:endParaRPr lang="en-US" sz="2400" dirty="0"/>
          </a:p>
        </p:txBody>
      </p:sp>
      <p:sp>
        <p:nvSpPr>
          <p:cNvPr id="84" name="Text 82"/>
          <p:cNvSpPr/>
          <p:nvPr/>
        </p:nvSpPr>
        <p:spPr>
          <a:xfrm>
            <a:off x="5650992" y="2331720"/>
            <a:ext cx="1316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C5A66"/>
                </a:solidFill>
              </a:rPr>
              <a:t>Validation Accuracy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360920" y="164592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FBF7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6" name="Text 84"/>
          <p:cNvSpPr/>
          <p:nvPr/>
        </p:nvSpPr>
        <p:spPr>
          <a:xfrm>
            <a:off x="7470648" y="181051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202A"/>
                </a:solidFill>
              </a:rPr>
              <a:t>93.9%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7525512" y="2331720"/>
            <a:ext cx="1316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C5A66"/>
                </a:solidFill>
              </a:rPr>
              <a:t>F1-score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9235440" y="164592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FBF7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9" name="Text 87"/>
          <p:cNvSpPr/>
          <p:nvPr/>
        </p:nvSpPr>
        <p:spPr>
          <a:xfrm>
            <a:off x="9345168" y="181051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202A"/>
                </a:solidFill>
              </a:rPr>
              <a:t>96.4%</a:t>
            </a:r>
            <a:endParaRPr lang="en-US" sz="2400" dirty="0"/>
          </a:p>
        </p:txBody>
      </p:sp>
      <p:sp>
        <p:nvSpPr>
          <p:cNvPr id="90" name="Text 88"/>
          <p:cNvSpPr/>
          <p:nvPr/>
        </p:nvSpPr>
        <p:spPr>
          <a:xfrm>
            <a:off x="9400032" y="2331720"/>
            <a:ext cx="1316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C5A66"/>
                </a:solidFill>
              </a:rPr>
              <a:t>Precision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7360920" y="315468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FBF7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2" name="Text 90"/>
          <p:cNvSpPr/>
          <p:nvPr/>
        </p:nvSpPr>
        <p:spPr>
          <a:xfrm>
            <a:off x="7470648" y="331927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202A"/>
                </a:solidFill>
              </a:rPr>
              <a:t>91.5%</a:t>
            </a:r>
            <a:endParaRPr lang="en-US" sz="2400" dirty="0"/>
          </a:p>
        </p:txBody>
      </p:sp>
      <p:sp>
        <p:nvSpPr>
          <p:cNvPr id="93" name="Text 91"/>
          <p:cNvSpPr/>
          <p:nvPr/>
        </p:nvSpPr>
        <p:spPr>
          <a:xfrm>
            <a:off x="7525512" y="3840480"/>
            <a:ext cx="1316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C5A66"/>
                </a:solidFill>
              </a:rPr>
              <a:t>Recall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9235440" y="315468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FBF7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5" name="Text 93"/>
          <p:cNvSpPr/>
          <p:nvPr/>
        </p:nvSpPr>
        <p:spPr>
          <a:xfrm>
            <a:off x="9345168" y="331927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202A"/>
                </a:solidFill>
              </a:rPr>
              <a:t>97.6%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9400032" y="3840480"/>
            <a:ext cx="1316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C5A66"/>
                </a:solidFill>
              </a:rPr>
              <a:t>AUC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5486400" y="4800600"/>
            <a:ext cx="5394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2FBF7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8" name="Text 96"/>
          <p:cNvSpPr/>
          <p:nvPr/>
        </p:nvSpPr>
        <p:spPr>
          <a:xfrm>
            <a:off x="5806440" y="506577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5834F"/>
                </a:solidFill>
              </a:rPr>
              <a:t>Decision threshold: 0.5; predictions above the threshold are classified as Violence.</a:t>
            </a:r>
            <a:endParaRPr lang="en-US" sz="1040" dirty="0"/>
          </a:p>
        </p:txBody>
      </p:sp>
      <p:sp>
        <p:nvSpPr>
          <p:cNvPr id="99" name="Shape 9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0" name="Text 98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Methodology and Technology Stack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Controlled training setup for reproducible model comparison.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TRAINING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685800" y="1463040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1820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8" name="Text 66"/>
          <p:cNvSpPr/>
          <p:nvPr/>
        </p:nvSpPr>
        <p:spPr>
          <a:xfrm>
            <a:off x="96012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95C"/>
                </a:solidFill>
              </a:rPr>
              <a:t>Technology Ecosystem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960120" y="2240280"/>
            <a:ext cx="274320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18202A"/>
                </a:solidFill>
              </a:rPr>
              <a:t>PyTorch / neural network training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OpenCV / video frame extraction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NumPy + Pandas / analysis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scikit-learn / metrics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Matplotlib / visualizations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434840" y="1463040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1820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1" name="Text 69"/>
          <p:cNvSpPr/>
          <p:nvPr/>
        </p:nvSpPr>
        <p:spPr>
          <a:xfrm>
            <a:off x="470916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95C"/>
                </a:solidFill>
              </a:rPr>
              <a:t>Training Setup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4709160" y="2240280"/>
            <a:ext cx="274320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18202A"/>
                </a:solidFill>
              </a:rPr>
              <a:t>Optimizer: AdamW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Loss: Binary Cross-Entropy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Epochs: 25 cycles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Data augmentation for generalization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Pretrained weights + fine-tuning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8183880" y="1463040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1820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4" name="Text 72"/>
          <p:cNvSpPr/>
          <p:nvPr/>
        </p:nvSpPr>
        <p:spPr>
          <a:xfrm>
            <a:off x="845820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95C"/>
                </a:solidFill>
              </a:rPr>
              <a:t>Overfit Control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8458200" y="2240280"/>
            <a:ext cx="274320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18202A"/>
                </a:solidFill>
              </a:rPr>
              <a:t>Strict train/validation/test split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Continuous metric tracking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Early stopping on overfitting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Dropout and weight decay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Validation curves used for diagnosis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7" name="Text 75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Delta: Baseline vs. MViT V2 S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Use metrics and rates to compare fairly across evaluation splits.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COMPARISON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914400" y="1417320"/>
            <a:ext cx="102870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0160">
            <a:solidFill>
              <a:srgbClr val="1820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8" name="Text 66"/>
          <p:cNvSpPr/>
          <p:nvPr/>
        </p:nvSpPr>
        <p:spPr>
          <a:xfrm>
            <a:off x="987552" y="161848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95C"/>
                </a:solidFill>
              </a:rPr>
              <a:t>Metric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3547872" y="161848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95C"/>
                </a:solidFill>
              </a:rPr>
              <a:t>Baseline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6153912" y="161848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95C"/>
                </a:solidFill>
              </a:rPr>
              <a:t>Change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8805672" y="161848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95C"/>
                </a:solidFill>
              </a:rPr>
              <a:t>Final MViT V2 S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1005840" y="2103120"/>
            <a:ext cx="1010412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3" name="Text 71"/>
          <p:cNvSpPr/>
          <p:nvPr/>
        </p:nvSpPr>
        <p:spPr>
          <a:xfrm>
            <a:off x="1005840" y="2322576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02A"/>
                </a:solidFill>
              </a:rPr>
              <a:t>Accuracy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566160" y="2322576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8202A"/>
                </a:solidFill>
              </a:rPr>
              <a:t>52.6%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6172200" y="2322576"/>
            <a:ext cx="2468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834F"/>
                </a:solidFill>
              </a:rPr>
              <a:t>+41.4 percentage points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8823960" y="232257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02A"/>
                </a:solidFill>
              </a:rPr>
              <a:t>94.0%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1005840" y="2743200"/>
            <a:ext cx="1010412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8" name="Text 76"/>
          <p:cNvSpPr/>
          <p:nvPr/>
        </p:nvSpPr>
        <p:spPr>
          <a:xfrm>
            <a:off x="1005840" y="2962656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02A"/>
                </a:solidFill>
              </a:rPr>
              <a:t>F1-score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3566160" y="2962656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8202A"/>
                </a:solidFill>
              </a:rPr>
              <a:t>67.4%</a:t>
            </a:r>
            <a:endParaRPr lang="en-US" sz="1250" dirty="0"/>
          </a:p>
        </p:txBody>
      </p:sp>
      <p:sp>
        <p:nvSpPr>
          <p:cNvPr id="80" name="Text 78"/>
          <p:cNvSpPr/>
          <p:nvPr/>
        </p:nvSpPr>
        <p:spPr>
          <a:xfrm>
            <a:off x="6172200" y="2962656"/>
            <a:ext cx="2468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834F"/>
                </a:solidFill>
              </a:rPr>
              <a:t>+26.5% absolute gain</a:t>
            </a:r>
            <a:endParaRPr lang="en-US" sz="1250" dirty="0"/>
          </a:p>
        </p:txBody>
      </p:sp>
      <p:sp>
        <p:nvSpPr>
          <p:cNvPr id="81" name="Text 79"/>
          <p:cNvSpPr/>
          <p:nvPr/>
        </p:nvSpPr>
        <p:spPr>
          <a:xfrm>
            <a:off x="8823960" y="296265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02A"/>
                </a:solidFill>
              </a:rPr>
              <a:t>93.9%</a:t>
            </a:r>
            <a:endParaRPr lang="en-US" sz="1250" dirty="0"/>
          </a:p>
        </p:txBody>
      </p:sp>
      <p:sp>
        <p:nvSpPr>
          <p:cNvPr id="82" name="Shape 80"/>
          <p:cNvSpPr/>
          <p:nvPr/>
        </p:nvSpPr>
        <p:spPr>
          <a:xfrm>
            <a:off x="1005840" y="3383280"/>
            <a:ext cx="1010412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3" name="Text 81"/>
          <p:cNvSpPr/>
          <p:nvPr/>
        </p:nvSpPr>
        <p:spPr>
          <a:xfrm>
            <a:off x="1005840" y="3602736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02A"/>
                </a:solidFill>
              </a:rPr>
              <a:t>Precision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3566160" y="3602736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8202A"/>
                </a:solidFill>
              </a:rPr>
              <a:t>51.3%</a:t>
            </a:r>
            <a:endParaRPr lang="en-US" sz="1250" dirty="0"/>
          </a:p>
        </p:txBody>
      </p:sp>
      <p:sp>
        <p:nvSpPr>
          <p:cNvPr id="85" name="Text 83"/>
          <p:cNvSpPr/>
          <p:nvPr/>
        </p:nvSpPr>
        <p:spPr>
          <a:xfrm>
            <a:off x="6172200" y="3602736"/>
            <a:ext cx="2468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834F"/>
                </a:solidFill>
              </a:rPr>
              <a:t>+45.1% absolute gain</a:t>
            </a:r>
            <a:endParaRPr lang="en-US" sz="1250" dirty="0"/>
          </a:p>
        </p:txBody>
      </p:sp>
      <p:sp>
        <p:nvSpPr>
          <p:cNvPr id="86" name="Text 84"/>
          <p:cNvSpPr/>
          <p:nvPr/>
        </p:nvSpPr>
        <p:spPr>
          <a:xfrm>
            <a:off x="8823960" y="36027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02A"/>
                </a:solidFill>
              </a:rPr>
              <a:t>96.4%</a:t>
            </a:r>
            <a:endParaRPr lang="en-US" sz="1250" dirty="0"/>
          </a:p>
        </p:txBody>
      </p:sp>
      <p:sp>
        <p:nvSpPr>
          <p:cNvPr id="87" name="Shape 85"/>
          <p:cNvSpPr/>
          <p:nvPr/>
        </p:nvSpPr>
        <p:spPr>
          <a:xfrm>
            <a:off x="1005840" y="4023360"/>
            <a:ext cx="1010412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8" name="Text 86"/>
          <p:cNvSpPr/>
          <p:nvPr/>
        </p:nvSpPr>
        <p:spPr>
          <a:xfrm>
            <a:off x="1005840" y="4242816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02A"/>
                </a:solidFill>
              </a:rPr>
              <a:t>False positive rate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3566160" y="4242816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8202A"/>
                </a:solidFill>
              </a:rPr>
              <a:t>92.8%</a:t>
            </a:r>
            <a:endParaRPr lang="en-US" sz="1250" dirty="0"/>
          </a:p>
        </p:txBody>
      </p:sp>
      <p:sp>
        <p:nvSpPr>
          <p:cNvPr id="90" name="Text 88"/>
          <p:cNvSpPr/>
          <p:nvPr/>
        </p:nvSpPr>
        <p:spPr>
          <a:xfrm>
            <a:off x="6172200" y="4242816"/>
            <a:ext cx="2468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834F"/>
                </a:solidFill>
              </a:rPr>
              <a:t>≈96% relative reduction</a:t>
            </a:r>
            <a:endParaRPr lang="en-US" sz="1250" dirty="0"/>
          </a:p>
        </p:txBody>
      </p:sp>
      <p:sp>
        <p:nvSpPr>
          <p:cNvPr id="91" name="Text 89"/>
          <p:cNvSpPr/>
          <p:nvPr/>
        </p:nvSpPr>
        <p:spPr>
          <a:xfrm>
            <a:off x="8823960" y="424281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02A"/>
                </a:solidFill>
              </a:rPr>
              <a:t>3.4%</a:t>
            </a:r>
            <a:endParaRPr lang="en-US" sz="1250" dirty="0"/>
          </a:p>
        </p:txBody>
      </p:sp>
      <p:sp>
        <p:nvSpPr>
          <p:cNvPr id="92" name="Shape 90"/>
          <p:cNvSpPr/>
          <p:nvPr/>
        </p:nvSpPr>
        <p:spPr>
          <a:xfrm>
            <a:off x="1234440" y="5715000"/>
            <a:ext cx="9646920" cy="502920"/>
          </a:xfrm>
          <a:prstGeom prst="roundRect">
            <a:avLst>
              <a:gd name="adj" fmla="val 14545"/>
            </a:avLst>
          </a:prstGeom>
          <a:solidFill>
            <a:srgbClr val="EAF3FF"/>
          </a:solidFill>
          <a:ln w="10160">
            <a:solidFill>
              <a:srgbClr val="B5D4E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3" name="Text 91"/>
          <p:cNvSpPr/>
          <p:nvPr/>
        </p:nvSpPr>
        <p:spPr>
          <a:xfrm>
            <a:off x="1508760" y="5870448"/>
            <a:ext cx="9098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395C"/>
                </a:solidFill>
              </a:rPr>
              <a:t>Interpretation: the final model preserves high recall while dramatically reducing false alarms compared with the baseline.</a:t>
            </a:r>
            <a:endParaRPr lang="en-US" sz="980" dirty="0"/>
          </a:p>
        </p:txBody>
      </p:sp>
      <p:sp>
        <p:nvSpPr>
          <p:cNvPr id="94" name="Shape 9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5" name="Text 93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Typology and Real-World Constraints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The prototype is strong, but deployment requires robustness beyond the dataset.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LIMITATIONS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685800" y="141732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34B4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8" name="Shape 66"/>
          <p:cNvSpPr/>
          <p:nvPr/>
        </p:nvSpPr>
        <p:spPr>
          <a:xfrm>
            <a:off x="960120" y="16916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FBEAEA"/>
          </a:solidFill>
          <a:ln w="12700">
            <a:solidFill>
              <a:srgbClr val="FBEA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9" name="Text 67"/>
          <p:cNvSpPr/>
          <p:nvPr/>
        </p:nvSpPr>
        <p:spPr>
          <a:xfrm>
            <a:off x="1069848" y="1755648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4B4B"/>
                </a:solidFill>
              </a:rPr>
              <a:t>FALSE ALARMS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960120" y="214884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4B4B"/>
                </a:solidFill>
              </a:rPr>
              <a:t>Normal classified as Violence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960120" y="265176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202A"/>
                </a:solidFill>
              </a:rPr>
              <a:t>Likely causes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005840" y="2971800"/>
            <a:ext cx="44805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18202A"/>
                </a:solidFill>
              </a:rPr>
              <a:t>Intense sports or rough play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Group dancing or rapid crowd motion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Sudden camera jerks</a:t>
            </a:r>
            <a:endParaRPr lang="en-US" sz="1200" dirty="0"/>
          </a:p>
          <a:p>
            <a:r>
              <a:rPr lang="en-US" sz="1200" dirty="0">
                <a:solidFill>
                  <a:srgbClr val="18202A"/>
                </a:solidFill>
              </a:rPr>
              <a:t>Unusual body movement without aggression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263640" y="141732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F3A21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4" name="Shape 72"/>
          <p:cNvSpPr/>
          <p:nvPr/>
        </p:nvSpPr>
        <p:spPr>
          <a:xfrm>
            <a:off x="6537960" y="169164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FF4D8"/>
          </a:solidFill>
          <a:ln w="12700">
            <a:solidFill>
              <a:srgbClr val="FFF4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5" name="Text 73"/>
          <p:cNvSpPr/>
          <p:nvPr/>
        </p:nvSpPr>
        <p:spPr>
          <a:xfrm>
            <a:off x="6647688" y="1755648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A21B"/>
                </a:solidFill>
              </a:rPr>
              <a:t>MISSED EVENTS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537960" y="214884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A21B"/>
                </a:solidFill>
              </a:rPr>
              <a:t>Violence classified as Non-Violence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537960" y="265176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202A"/>
                </a:solidFill>
              </a:rPr>
              <a:t>Likely causes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6583680" y="2971800"/>
            <a:ext cx="44805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80" dirty="0">
                <a:solidFill>
                  <a:srgbClr val="18202A"/>
                </a:solidFill>
              </a:rPr>
              <a:t>Occlusion and hidden action</a:t>
            </a:r>
            <a:endParaRPr lang="en-US" sz="1080" dirty="0"/>
          </a:p>
          <a:p>
            <a:r>
              <a:rPr lang="en-US" sz="1080" dirty="0">
                <a:solidFill>
                  <a:srgbClr val="18202A"/>
                </a:solidFill>
              </a:rPr>
              <a:t>Very short aggression under the clip window</a:t>
            </a:r>
            <a:endParaRPr lang="en-US" sz="1080" dirty="0"/>
          </a:p>
          <a:p>
            <a:r>
              <a:rPr lang="en-US" sz="1080" dirty="0">
                <a:solidFill>
                  <a:srgbClr val="18202A"/>
                </a:solidFill>
              </a:rPr>
              <a:t>Low lighting or visual noise</a:t>
            </a:r>
            <a:endParaRPr lang="en-US" sz="1080" dirty="0"/>
          </a:p>
          <a:p>
            <a:r>
              <a:rPr lang="en-US" sz="1080" dirty="0">
                <a:solidFill>
                  <a:srgbClr val="18202A"/>
                </a:solidFill>
              </a:rPr>
              <a:t>Camera angles that hide contact</a:t>
            </a:r>
            <a:endParaRPr lang="en-US" sz="1080" dirty="0"/>
          </a:p>
        </p:txBody>
      </p:sp>
      <p:sp>
        <p:nvSpPr>
          <p:cNvPr id="79" name="Shape 7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0" name="Text 78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Roadmap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future work scales toward real-world deployment.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NEXT STEPS</a:t>
            </a:r>
            <a:endParaRPr lang="en-US" sz="760" dirty="0"/>
          </a:p>
        </p:txBody>
      </p:sp>
      <p:sp>
        <p:nvSpPr>
          <p:cNvPr id="72" name="Text 70"/>
          <p:cNvSpPr/>
          <p:nvPr/>
        </p:nvSpPr>
        <p:spPr>
          <a:xfrm>
            <a:off x="4709160" y="46817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6035040" y="46817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7360920" y="46817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8686800" y="46817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10012680" y="46817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grpSp>
        <p:nvGrpSpPr>
          <p:cNvPr id="94" name="קבוצה 93">
            <a:extLst>
              <a:ext uri="{FF2B5EF4-FFF2-40B4-BE49-F238E27FC236}">
                <a16:creationId xmlns:a16="http://schemas.microsoft.com/office/drawing/2014/main" id="{0481D37A-C1C1-10F9-ACED-E82E7137CF59}"/>
              </a:ext>
            </a:extLst>
          </p:cNvPr>
          <p:cNvGrpSpPr/>
          <p:nvPr/>
        </p:nvGrpSpPr>
        <p:grpSpPr>
          <a:xfrm>
            <a:off x="990599" y="1810511"/>
            <a:ext cx="10146793" cy="4453127"/>
            <a:chOff x="4636008" y="1810512"/>
            <a:chExt cx="6501384" cy="3264408"/>
          </a:xfrm>
        </p:grpSpPr>
        <p:sp>
          <p:nvSpPr>
            <p:cNvPr id="71" name="Shape 69"/>
            <p:cNvSpPr/>
            <p:nvPr/>
          </p:nvSpPr>
          <p:spPr>
            <a:xfrm>
              <a:off x="4709160" y="4023360"/>
              <a:ext cx="1051560" cy="1051560"/>
            </a:xfrm>
            <a:prstGeom prst="rect">
              <a:avLst/>
            </a:prstGeom>
            <a:solidFill>
              <a:srgbClr val="2FBF71"/>
            </a:solidFill>
            <a:ln w="1016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3" name="Text 71"/>
            <p:cNvSpPr/>
            <p:nvPr/>
          </p:nvSpPr>
          <p:spPr>
            <a:xfrm>
              <a:off x="4636008" y="1810512"/>
              <a:ext cx="119786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8202A"/>
                  </a:solidFill>
                </a:rPr>
                <a:t>Real-Time Inference</a:t>
              </a:r>
              <a:endParaRPr lang="en-US" sz="140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4636008" y="2240280"/>
              <a:ext cx="119786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C5A66"/>
                  </a:solidFill>
                </a:rPr>
                <a:t>Optimize code for live-stream throughput.</a:t>
              </a:r>
              <a:endParaRPr lang="en-US" sz="1000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6035040" y="3794760"/>
              <a:ext cx="1051560" cy="1280160"/>
            </a:xfrm>
            <a:prstGeom prst="rect">
              <a:avLst/>
            </a:prstGeom>
            <a:solidFill>
              <a:srgbClr val="17395C"/>
            </a:solidFill>
            <a:ln w="1016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7" name="Text 75"/>
            <p:cNvSpPr/>
            <p:nvPr/>
          </p:nvSpPr>
          <p:spPr>
            <a:xfrm>
              <a:off x="5961888" y="1810512"/>
              <a:ext cx="119786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8202A"/>
                  </a:solidFill>
                </a:rPr>
                <a:t>Architecture Scaling</a:t>
              </a:r>
              <a:endParaRPr lang="en-US" sz="1400" dirty="0"/>
            </a:p>
          </p:txBody>
        </p:sp>
        <p:sp>
          <p:nvSpPr>
            <p:cNvPr id="78" name="Text 76"/>
            <p:cNvSpPr/>
            <p:nvPr/>
          </p:nvSpPr>
          <p:spPr>
            <a:xfrm>
              <a:off x="5961888" y="2240280"/>
              <a:ext cx="119786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C5A66"/>
                  </a:solidFill>
                </a:rPr>
                <a:t>Explore stronger video transformers and compression.</a:t>
              </a:r>
              <a:endParaRPr lang="en-US" sz="100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7360920" y="3566160"/>
              <a:ext cx="1051560" cy="1508760"/>
            </a:xfrm>
            <a:prstGeom prst="rect">
              <a:avLst/>
            </a:prstGeom>
            <a:solidFill>
              <a:srgbClr val="2FBF71"/>
            </a:solidFill>
            <a:ln w="1016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1" name="Text 79"/>
            <p:cNvSpPr/>
            <p:nvPr/>
          </p:nvSpPr>
          <p:spPr>
            <a:xfrm>
              <a:off x="7287768" y="1810512"/>
              <a:ext cx="119786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8202A"/>
                  </a:solidFill>
                </a:rPr>
                <a:t>Localization</a:t>
              </a:r>
              <a:endParaRPr lang="en-US" sz="140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7287768" y="2240280"/>
              <a:ext cx="119786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4C5A66"/>
                  </a:solidFill>
                </a:rPr>
                <a:t>Add bounding boxes to identify where the action occurs.</a:t>
              </a:r>
              <a:endParaRPr lang="en-US" sz="105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8686800" y="3337560"/>
              <a:ext cx="1051560" cy="1737360"/>
            </a:xfrm>
            <a:prstGeom prst="rect">
              <a:avLst/>
            </a:prstGeom>
            <a:solidFill>
              <a:srgbClr val="17395C"/>
            </a:solidFill>
            <a:ln w="1016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5" name="Text 83"/>
            <p:cNvSpPr/>
            <p:nvPr/>
          </p:nvSpPr>
          <p:spPr>
            <a:xfrm>
              <a:off x="8613648" y="1810512"/>
              <a:ext cx="119786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8202A"/>
                  </a:solidFill>
                </a:rPr>
                <a:t>Multi-Class Detection</a:t>
              </a:r>
              <a:endParaRPr lang="en-US" sz="1400" dirty="0"/>
            </a:p>
          </p:txBody>
        </p:sp>
        <p:sp>
          <p:nvSpPr>
            <p:cNvPr id="86" name="Text 84"/>
            <p:cNvSpPr/>
            <p:nvPr/>
          </p:nvSpPr>
          <p:spPr>
            <a:xfrm>
              <a:off x="8613648" y="2240280"/>
              <a:ext cx="119786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C5A66"/>
                  </a:solidFill>
                </a:rPr>
                <a:t>Expand beyond binary labels to robbery, vandalism, fights, etc.</a:t>
              </a:r>
              <a:endParaRPr lang="en-US" sz="1000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10012680" y="3108960"/>
              <a:ext cx="1051560" cy="1965960"/>
            </a:xfrm>
            <a:prstGeom prst="rect">
              <a:avLst/>
            </a:prstGeom>
            <a:solidFill>
              <a:srgbClr val="2FBF71"/>
            </a:solidFill>
            <a:ln w="1016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9" name="Text 87"/>
            <p:cNvSpPr/>
            <p:nvPr/>
          </p:nvSpPr>
          <p:spPr>
            <a:xfrm>
              <a:off x="9939528" y="1810512"/>
              <a:ext cx="119786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8202A"/>
                  </a:solidFill>
                </a:rPr>
                <a:t>Longer Context</a:t>
              </a:r>
              <a:endParaRPr lang="en-US" sz="1400" dirty="0"/>
            </a:p>
          </p:txBody>
        </p:sp>
        <p:sp>
          <p:nvSpPr>
            <p:cNvPr id="90" name="Text 88"/>
            <p:cNvSpPr/>
            <p:nvPr/>
          </p:nvSpPr>
          <p:spPr>
            <a:xfrm>
              <a:off x="9939528" y="2240280"/>
              <a:ext cx="119786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C5A66"/>
                  </a:solidFill>
                </a:rPr>
                <a:t>Remember longer sequences to improve event understanding.</a:t>
              </a:r>
              <a:endParaRPr lang="en-US" sz="1000" dirty="0"/>
            </a:p>
          </p:txBody>
        </p:sp>
      </p:grpSp>
      <p:sp>
        <p:nvSpPr>
          <p:cNvPr id="91" name="Shape 8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2" name="Text 90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0" y="3200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Shape 4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Shape 42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3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4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45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46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48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9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50"/>
          <p:cNvSpPr/>
          <p:nvPr/>
        </p:nvSpPr>
        <p:spPr>
          <a:xfrm>
            <a:off x="0" y="35204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51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Shape 52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Shape 53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Shape 55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Shape 56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Shape 57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Shape 58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9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0"/>
          </a:xfrm>
          <a:prstGeom prst="line">
            <a:avLst/>
          </a:prstGeom>
          <a:noFill/>
          <a:ln w="3810">
            <a:solidFill>
              <a:srgbClr val="DCE3D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54864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Performance Summary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566928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5A66"/>
                </a:solidFill>
              </a:rPr>
              <a:t>A strong foundation for AI-assisted video violence detection.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02368" y="393192"/>
            <a:ext cx="1847088" cy="310896"/>
          </a:xfrm>
          <a:prstGeom prst="roundRect">
            <a:avLst>
              <a:gd name="adj" fmla="val 1764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9921240" y="4663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SUMMARY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1051560" y="169164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2FBF71"/>
            </a:solidFill>
            <a:prstDash val="solid"/>
          </a:ln>
        </p:spPr>
        <p:txBody>
          <a:bodyPr/>
          <a:lstStyle/>
          <a:p>
            <a:pPr algn="ctr"/>
            <a:endParaRPr lang="he-IL" dirty="0"/>
          </a:p>
        </p:txBody>
      </p:sp>
      <p:grpSp>
        <p:nvGrpSpPr>
          <p:cNvPr id="83" name="קבוצה 82">
            <a:extLst>
              <a:ext uri="{FF2B5EF4-FFF2-40B4-BE49-F238E27FC236}">
                <a16:creationId xmlns:a16="http://schemas.microsoft.com/office/drawing/2014/main" id="{24A97AC0-027B-CD12-EDFF-57D6231A7182}"/>
              </a:ext>
            </a:extLst>
          </p:cNvPr>
          <p:cNvGrpSpPr/>
          <p:nvPr/>
        </p:nvGrpSpPr>
        <p:grpSpPr>
          <a:xfrm>
            <a:off x="1161288" y="2194560"/>
            <a:ext cx="2706624" cy="822960"/>
            <a:chOff x="1161288" y="1856232"/>
            <a:chExt cx="2706624" cy="822960"/>
          </a:xfrm>
        </p:grpSpPr>
        <p:sp>
          <p:nvSpPr>
            <p:cNvPr id="68" name="Text 66"/>
            <p:cNvSpPr/>
            <p:nvPr/>
          </p:nvSpPr>
          <p:spPr>
            <a:xfrm>
              <a:off x="1161288" y="1856232"/>
              <a:ext cx="270662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8202A"/>
                  </a:solidFill>
                </a:rPr>
                <a:t>94.0%</a:t>
              </a:r>
              <a:endParaRPr lang="en-US" sz="240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1216152" y="2377440"/>
              <a:ext cx="2596896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4C5A66"/>
                  </a:solidFill>
                </a:rPr>
                <a:t>Validation Accuracy</a:t>
              </a:r>
              <a:endParaRPr lang="en-US" sz="950" dirty="0"/>
            </a:p>
          </p:txBody>
        </p:sp>
      </p:grpSp>
      <p:sp>
        <p:nvSpPr>
          <p:cNvPr id="70" name="Shape 68"/>
          <p:cNvSpPr/>
          <p:nvPr/>
        </p:nvSpPr>
        <p:spPr>
          <a:xfrm>
            <a:off x="4617720" y="169164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2FBF7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grpSp>
        <p:nvGrpSpPr>
          <p:cNvPr id="84" name="קבוצה 83">
            <a:extLst>
              <a:ext uri="{FF2B5EF4-FFF2-40B4-BE49-F238E27FC236}">
                <a16:creationId xmlns:a16="http://schemas.microsoft.com/office/drawing/2014/main" id="{975176AA-8842-2FEA-94A2-70E302F87CE9}"/>
              </a:ext>
            </a:extLst>
          </p:cNvPr>
          <p:cNvGrpSpPr/>
          <p:nvPr/>
        </p:nvGrpSpPr>
        <p:grpSpPr>
          <a:xfrm>
            <a:off x="4727448" y="2194560"/>
            <a:ext cx="2706624" cy="822960"/>
            <a:chOff x="4727448" y="1856232"/>
            <a:chExt cx="2706624" cy="822960"/>
          </a:xfrm>
        </p:grpSpPr>
        <p:sp>
          <p:nvSpPr>
            <p:cNvPr id="71" name="Text 69"/>
            <p:cNvSpPr/>
            <p:nvPr/>
          </p:nvSpPr>
          <p:spPr>
            <a:xfrm>
              <a:off x="4727448" y="1856232"/>
              <a:ext cx="270662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8202A"/>
                  </a:solidFill>
                </a:rPr>
                <a:t>93.9%</a:t>
              </a:r>
              <a:endParaRPr lang="en-US" sz="2400" dirty="0"/>
            </a:p>
          </p:txBody>
        </p:sp>
        <p:sp>
          <p:nvSpPr>
            <p:cNvPr id="72" name="Text 70"/>
            <p:cNvSpPr/>
            <p:nvPr/>
          </p:nvSpPr>
          <p:spPr>
            <a:xfrm>
              <a:off x="4782312" y="2377440"/>
              <a:ext cx="2596896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4C5A66"/>
                  </a:solidFill>
                </a:rPr>
                <a:t>Final F1-score</a:t>
              </a:r>
              <a:endParaRPr lang="en-US" sz="950" dirty="0"/>
            </a:p>
          </p:txBody>
        </p:sp>
      </p:grpSp>
      <p:sp>
        <p:nvSpPr>
          <p:cNvPr id="73" name="Shape 71"/>
          <p:cNvSpPr/>
          <p:nvPr/>
        </p:nvSpPr>
        <p:spPr>
          <a:xfrm>
            <a:off x="8183880" y="169164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2FBF7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grpSp>
        <p:nvGrpSpPr>
          <p:cNvPr id="85" name="קבוצה 84">
            <a:extLst>
              <a:ext uri="{FF2B5EF4-FFF2-40B4-BE49-F238E27FC236}">
                <a16:creationId xmlns:a16="http://schemas.microsoft.com/office/drawing/2014/main" id="{BE6E20F3-1E43-0812-9586-739AEB9BD2B4}"/>
              </a:ext>
            </a:extLst>
          </p:cNvPr>
          <p:cNvGrpSpPr/>
          <p:nvPr/>
        </p:nvGrpSpPr>
        <p:grpSpPr>
          <a:xfrm>
            <a:off x="8293608" y="2194560"/>
            <a:ext cx="2706624" cy="822960"/>
            <a:chOff x="8293608" y="1856232"/>
            <a:chExt cx="2706624" cy="822960"/>
          </a:xfrm>
        </p:grpSpPr>
        <p:sp>
          <p:nvSpPr>
            <p:cNvPr id="74" name="Text 72"/>
            <p:cNvSpPr/>
            <p:nvPr/>
          </p:nvSpPr>
          <p:spPr>
            <a:xfrm>
              <a:off x="8293608" y="1856232"/>
              <a:ext cx="270662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8202A"/>
                  </a:solidFill>
                </a:rPr>
                <a:t>97.6%</a:t>
              </a:r>
              <a:endParaRPr lang="en-US" sz="24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8348472" y="2377440"/>
              <a:ext cx="2596896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4C5A66"/>
                  </a:solidFill>
                </a:rPr>
                <a:t>AUC</a:t>
              </a:r>
              <a:endParaRPr lang="en-US" sz="950" dirty="0"/>
            </a:p>
          </p:txBody>
        </p:sp>
      </p:grpSp>
      <p:sp>
        <p:nvSpPr>
          <p:cNvPr id="76" name="Shape 74"/>
          <p:cNvSpPr/>
          <p:nvPr/>
        </p:nvSpPr>
        <p:spPr>
          <a:xfrm>
            <a:off x="1143000" y="4069080"/>
            <a:ext cx="9921240" cy="1078992"/>
          </a:xfrm>
          <a:prstGeom prst="roundRect">
            <a:avLst>
              <a:gd name="adj" fmla="val 6780"/>
            </a:avLst>
          </a:prstGeom>
          <a:solidFill>
            <a:srgbClr val="17395C"/>
          </a:solidFill>
          <a:ln w="10160">
            <a:solidFill>
              <a:srgbClr val="17395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7" name="Text 75"/>
          <p:cNvSpPr/>
          <p:nvPr/>
        </p:nvSpPr>
        <p:spPr>
          <a:xfrm>
            <a:off x="1508760" y="4407408"/>
            <a:ext cx="9189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From random-like baseline behavior to reliable AI-assisted clip prioritization.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965960" y="5257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4C5A66"/>
                </a:solidFill>
              </a:rPr>
              <a:t>Next step: external validation, speed benchmarking, and human-review integration before real-world deployment.</a:t>
            </a:r>
            <a:endParaRPr lang="en-US" sz="1120" dirty="0"/>
          </a:p>
        </p:txBody>
      </p:sp>
      <p:sp>
        <p:nvSpPr>
          <p:cNvPr id="79" name="Text 77"/>
          <p:cNvSpPr/>
          <p:nvPr/>
        </p:nvSpPr>
        <p:spPr>
          <a:xfrm>
            <a:off x="3931920" y="5806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7395C"/>
                </a:solidFill>
              </a:rPr>
              <a:t>Thank you</a:t>
            </a:r>
            <a:endParaRPr lang="en-US" sz="2300" dirty="0"/>
          </a:p>
        </p:txBody>
      </p:sp>
      <p:sp>
        <p:nvSpPr>
          <p:cNvPr id="80" name="Shape 7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CBD6D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1" name="Text 79"/>
          <p:cNvSpPr/>
          <p:nvPr/>
        </p:nvSpPr>
        <p:spPr>
          <a:xfrm>
            <a:off x="502920" y="65105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Final Project 2026  |  AI Smart Security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1109960" y="6473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95C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4957</TotalTime>
  <Words>2542</Words>
  <Application>Microsoft Office PowerPoint</Application>
  <PresentationFormat>מסך רחב</PresentationFormat>
  <Paragraphs>449</Paragraphs>
  <Slides>24</Slides>
  <Notes>24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Courier New</vt:lpstr>
      <vt:lpstr>Wingdings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Smart Security - Video Violence Detection</dc:title>
  <dc:subject>AI Smart Security - Video Violence Detection</dc:subject>
  <dc:creator>OpenAI</dc:creator>
  <cp:lastModifiedBy>Michael Yehoshua</cp:lastModifiedBy>
  <cp:revision>251</cp:revision>
  <dcterms:created xsi:type="dcterms:W3CDTF">2026-06-17T15:29:25Z</dcterms:created>
  <dcterms:modified xsi:type="dcterms:W3CDTF">2026-06-24T13:30:20Z</dcterms:modified>
</cp:coreProperties>
</file>